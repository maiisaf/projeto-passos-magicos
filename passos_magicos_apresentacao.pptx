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0" r:id="rId9"/>
    <p:sldId id="264" r:id="rId10"/>
    <p:sldId id="265" r:id="rId11"/>
    <p:sldId id="274" r:id="rId12"/>
    <p:sldId id="273" r:id="rId13"/>
    <p:sldId id="266" r:id="rId14"/>
    <p:sldId id="275" r:id="rId15"/>
    <p:sldId id="276" r:id="rId16"/>
    <p:sldId id="277" r:id="rId17"/>
    <p:sldId id="269" r:id="rId18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5936"/>
    <a:srgbClr val="ED3337"/>
    <a:srgbClr val="ED0000"/>
    <a:srgbClr val="76D6FF"/>
    <a:srgbClr val="0096FF"/>
    <a:srgbClr val="2596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006"/>
    <p:restoredTop sz="94286"/>
  </p:normalViewPr>
  <p:slideViewPr>
    <p:cSldViewPr snapToGrid="0">
      <p:cViewPr varScale="1">
        <p:scale>
          <a:sx n="136" d="100"/>
          <a:sy n="136" d="100"/>
        </p:scale>
        <p:origin x="1000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" name="Google Shape;2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8" name="Google Shape;88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rtl="0"/>
            <a:endParaRPr lang="en-US" b="0" dirty="0">
              <a:effectLst/>
            </a:endParaRPr>
          </a:p>
        </p:txBody>
      </p:sp>
      <p:sp>
        <p:nvSpPr>
          <p:cNvPr id="99" name="Google Shape;99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rtl="0"/>
            <a:endParaRPr lang="en-US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rtl="0"/>
            <a:endParaRPr lang="en-US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>
          <a:extLst>
            <a:ext uri="{FF2B5EF4-FFF2-40B4-BE49-F238E27FC236}">
              <a16:creationId xmlns:a16="http://schemas.microsoft.com/office/drawing/2014/main" id="{D5B0EE07-5294-CC69-6982-71B94709F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8:notes">
            <a:extLst>
              <a:ext uri="{FF2B5EF4-FFF2-40B4-BE49-F238E27FC236}">
                <a16:creationId xmlns:a16="http://schemas.microsoft.com/office/drawing/2014/main" id="{81672A1A-6781-BE7F-0521-FB127149FD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5" name="Google Shape;215;p8:notes">
            <a:extLst>
              <a:ext uri="{FF2B5EF4-FFF2-40B4-BE49-F238E27FC236}">
                <a16:creationId xmlns:a16="http://schemas.microsoft.com/office/drawing/2014/main" id="{92889A44-E036-D248-B7EA-0C14D0656A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rtl="0"/>
            <a:endParaRPr lang="en-US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:notes">
            <a:extLst>
              <a:ext uri="{FF2B5EF4-FFF2-40B4-BE49-F238E27FC236}">
                <a16:creationId xmlns:a16="http://schemas.microsoft.com/office/drawing/2014/main" id="{4E2BDFF5-DC41-9F8B-7E85-201A5D6ED65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819456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1" name="Google Shape;241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2" name="Google Shape;252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rtl="0"/>
            <a:endParaRPr lang="en-US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>
          <a:extLst>
            <a:ext uri="{FF2B5EF4-FFF2-40B4-BE49-F238E27FC236}">
              <a16:creationId xmlns:a16="http://schemas.microsoft.com/office/drawing/2014/main" id="{57804205-64B2-F8C6-E37D-E257585A3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0:notes">
            <a:extLst>
              <a:ext uri="{FF2B5EF4-FFF2-40B4-BE49-F238E27FC236}">
                <a16:creationId xmlns:a16="http://schemas.microsoft.com/office/drawing/2014/main" id="{3772B1DC-9D5A-9943-0D92-08A194E0E0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2" name="Google Shape;252;p10:notes">
            <a:extLst>
              <a:ext uri="{FF2B5EF4-FFF2-40B4-BE49-F238E27FC236}">
                <a16:creationId xmlns:a16="http://schemas.microsoft.com/office/drawing/2014/main" id="{1BB9AB8D-96D0-1003-F2E0-1D0CFF7D82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200" b="0" i="0" u="none" strike="noStrike" cap="none" dirty="0" err="1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0:notes">
            <a:extLst>
              <a:ext uri="{FF2B5EF4-FFF2-40B4-BE49-F238E27FC236}">
                <a16:creationId xmlns:a16="http://schemas.microsoft.com/office/drawing/2014/main" id="{3C1B716D-F56C-2F20-D362-5D91EB23375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818437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>
          <a:extLst>
            <a:ext uri="{FF2B5EF4-FFF2-40B4-BE49-F238E27FC236}">
              <a16:creationId xmlns:a16="http://schemas.microsoft.com/office/drawing/2014/main" id="{1EE0CCCB-4F59-E086-3074-ECC07C2CC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0:notes">
            <a:extLst>
              <a:ext uri="{FF2B5EF4-FFF2-40B4-BE49-F238E27FC236}">
                <a16:creationId xmlns:a16="http://schemas.microsoft.com/office/drawing/2014/main" id="{9E757BDC-89D7-F90D-000F-676EC9A606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2" name="Google Shape;252;p10:notes">
            <a:extLst>
              <a:ext uri="{FF2B5EF4-FFF2-40B4-BE49-F238E27FC236}">
                <a16:creationId xmlns:a16="http://schemas.microsoft.com/office/drawing/2014/main" id="{3D3B9F88-8B7E-C543-39B7-3A99BA72C4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0:notes">
            <a:extLst>
              <a:ext uri="{FF2B5EF4-FFF2-40B4-BE49-F238E27FC236}">
                <a16:creationId xmlns:a16="http://schemas.microsoft.com/office/drawing/2014/main" id="{A13A5BC9-CA34-DC62-C66D-B26ECBC7CA8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745815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7" name="Google Shape;287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>
          <a:extLst>
            <a:ext uri="{FF2B5EF4-FFF2-40B4-BE49-F238E27FC236}">
              <a16:creationId xmlns:a16="http://schemas.microsoft.com/office/drawing/2014/main" id="{31261A56-4EEA-5CFD-82C5-511398550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1:notes">
            <a:extLst>
              <a:ext uri="{FF2B5EF4-FFF2-40B4-BE49-F238E27FC236}">
                <a16:creationId xmlns:a16="http://schemas.microsoft.com/office/drawing/2014/main" id="{5800754F-91AC-5741-76F7-AFACF4306D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7" name="Google Shape;287;p11:notes">
            <a:extLst>
              <a:ext uri="{FF2B5EF4-FFF2-40B4-BE49-F238E27FC236}">
                <a16:creationId xmlns:a16="http://schemas.microsoft.com/office/drawing/2014/main" id="{5805E225-330F-0BFD-6A65-26A5C7A17F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1:notes">
            <a:extLst>
              <a:ext uri="{FF2B5EF4-FFF2-40B4-BE49-F238E27FC236}">
                <a16:creationId xmlns:a16="http://schemas.microsoft.com/office/drawing/2014/main" id="{7793E14B-382D-3FC0-E76F-F42DAF801C8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495597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>
          <a:extLst>
            <a:ext uri="{FF2B5EF4-FFF2-40B4-BE49-F238E27FC236}">
              <a16:creationId xmlns:a16="http://schemas.microsoft.com/office/drawing/2014/main" id="{1D40C600-235C-A7EF-AF3E-66BC4F0D8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9:notes">
            <a:extLst>
              <a:ext uri="{FF2B5EF4-FFF2-40B4-BE49-F238E27FC236}">
                <a16:creationId xmlns:a16="http://schemas.microsoft.com/office/drawing/2014/main" id="{6DF1C7D2-9C44-A51C-FA65-D783B60345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1" name="Google Shape;241;p9:notes">
            <a:extLst>
              <a:ext uri="{FF2B5EF4-FFF2-40B4-BE49-F238E27FC236}">
                <a16:creationId xmlns:a16="http://schemas.microsoft.com/office/drawing/2014/main" id="{4A9754B2-8422-C674-3D92-0409228986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9:notes">
            <a:extLst>
              <a:ext uri="{FF2B5EF4-FFF2-40B4-BE49-F238E27FC236}">
                <a16:creationId xmlns:a16="http://schemas.microsoft.com/office/drawing/2014/main" id="{9E951FBA-D597-F671-C3A4-30A62B190AB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020574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>
          <a:extLst>
            <a:ext uri="{FF2B5EF4-FFF2-40B4-BE49-F238E27FC236}">
              <a16:creationId xmlns:a16="http://schemas.microsoft.com/office/drawing/2014/main" id="{C1AC03BA-1151-7038-6830-33AC34290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1:notes">
            <a:extLst>
              <a:ext uri="{FF2B5EF4-FFF2-40B4-BE49-F238E27FC236}">
                <a16:creationId xmlns:a16="http://schemas.microsoft.com/office/drawing/2014/main" id="{03F0B48A-758F-83A3-57B7-000B4C12C3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7" name="Google Shape;287;p11:notes">
            <a:extLst>
              <a:ext uri="{FF2B5EF4-FFF2-40B4-BE49-F238E27FC236}">
                <a16:creationId xmlns:a16="http://schemas.microsoft.com/office/drawing/2014/main" id="{A8D50AAC-BFAB-3376-5C5B-9B202CE085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rtl="0"/>
            <a:endParaRPr lang="en-US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1:notes">
            <a:extLst>
              <a:ext uri="{FF2B5EF4-FFF2-40B4-BE49-F238E27FC236}">
                <a16:creationId xmlns:a16="http://schemas.microsoft.com/office/drawing/2014/main" id="{53E188BB-8478-39B9-40F0-0AA5A7E1EC6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85624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5" name="Google Shape;395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8.png"/><Relationship Id="rId7" Type="http://schemas.microsoft.com/office/2007/relationships/hdphoto" Target="../media/hdphoto1.wdp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2.png"/><Relationship Id="rId5" Type="http://schemas.microsoft.com/office/2007/relationships/hdphoto" Target="../media/hdphoto2.wdp"/><Relationship Id="rId10" Type="http://schemas.openxmlformats.org/officeDocument/2006/relationships/image" Target="../media/image6.png"/><Relationship Id="rId4" Type="http://schemas.openxmlformats.org/officeDocument/2006/relationships/image" Target="../media/image9.pn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3.png"/><Relationship Id="rId7" Type="http://schemas.microsoft.com/office/2007/relationships/hdphoto" Target="../media/hdphoto2.wdp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microsoft.com/office/2007/relationships/hdphoto" Target="../media/hdphoto3.wdp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9.png"/><Relationship Id="rId4" Type="http://schemas.openxmlformats.org/officeDocument/2006/relationships/image" Target="../media/image6.png"/><Relationship Id="rId9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3.png"/><Relationship Id="rId7" Type="http://schemas.microsoft.com/office/2007/relationships/hdphoto" Target="../media/hdphoto2.wdp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25.png"/><Relationship Id="rId10" Type="http://schemas.microsoft.com/office/2007/relationships/hdphoto" Target="../media/hdphoto1.wdp"/><Relationship Id="rId4" Type="http://schemas.openxmlformats.org/officeDocument/2006/relationships/image" Target="../media/image24.png"/><Relationship Id="rId9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344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D3337"/>
          </a:solidFill>
          <a:ln w="12700" cap="flat" cmpd="sng">
            <a:solidFill>
              <a:srgbClr val="ED333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109728" y="0"/>
            <a:ext cx="9034272" cy="5143500"/>
          </a:xfrm>
          <a:prstGeom prst="rect">
            <a:avLst/>
          </a:prstGeom>
          <a:solidFill>
            <a:srgbClr val="0F2344"/>
          </a:solidFill>
          <a:ln w="12700" cap="flat" cmpd="sng">
            <a:solidFill>
              <a:srgbClr val="0F23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chemeClr val="accent1">
              <a:lumMod val="60000"/>
              <a:lumOff val="40000"/>
              <a:alpha val="96970"/>
            </a:schemeClr>
          </a:solidFill>
          <a:ln w="12700" cap="flat" cmpd="sng">
            <a:solidFill>
              <a:srgbClr val="1B3A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457200" y="59436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06C1A"/>
              </a:buClr>
              <a:buSzPts val="1200"/>
              <a:buFont typeface="Calibri"/>
              <a:buNone/>
            </a:pPr>
            <a:r>
              <a:rPr lang="en-US" sz="1200" b="1" i="0" u="none" strike="noStrike" cap="none" dirty="0">
                <a:solidFill>
                  <a:srgbClr val="ED3337"/>
                </a:solidFill>
                <a:latin typeface="Calibri"/>
                <a:ea typeface="Calibri"/>
                <a:cs typeface="Calibri"/>
                <a:sym typeface="Calibri"/>
              </a:rPr>
              <a:t>PASSOS MÁGICOS</a:t>
            </a:r>
            <a:endParaRPr sz="1200" b="0" i="0" u="none" strike="noStrike" cap="none" dirty="0">
              <a:solidFill>
                <a:srgbClr val="ED33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457200" y="114300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Dashboard Educacional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457200" y="2148840"/>
            <a:ext cx="77724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6E4F7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D6E4F7"/>
                </a:solidFill>
                <a:latin typeface="Calibri"/>
                <a:ea typeface="Calibri"/>
                <a:cs typeface="Calibri"/>
                <a:sym typeface="Calibri"/>
              </a:rPr>
              <a:t>Análise de Desempenho, Risco e Efetividade do Programa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" name="Google Shape;22;p3"/>
          <p:cNvCxnSpPr/>
          <p:nvPr/>
        </p:nvCxnSpPr>
        <p:spPr>
          <a:xfrm>
            <a:off x="457200" y="2697480"/>
            <a:ext cx="5029200" cy="0"/>
          </a:xfrm>
          <a:prstGeom prst="straightConnector1">
            <a:avLst/>
          </a:prstGeom>
          <a:noFill/>
          <a:ln w="19050" cap="flat" cmpd="sng">
            <a:solidFill>
              <a:srgbClr val="2E5FA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3" name="Google Shape;23;p3"/>
          <p:cNvSpPr/>
          <p:nvPr/>
        </p:nvSpPr>
        <p:spPr>
          <a:xfrm>
            <a:off x="457200" y="28803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Período de análise: </a:t>
            </a:r>
            <a:r>
              <a:rPr lang="en-US" sz="1200" b="0" i="0" u="none" strike="noStrike" cap="none">
                <a:solidFill>
                  <a:srgbClr val="D6E4F7"/>
                </a:solidFill>
                <a:latin typeface="Calibri"/>
                <a:ea typeface="Calibri"/>
                <a:cs typeface="Calibri"/>
                <a:sym typeface="Calibri"/>
              </a:rPr>
              <a:t>2022 · 2023 · 2024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457200" y="320040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Base: </a:t>
            </a:r>
            <a:r>
              <a:rPr lang="en-US" sz="1200" b="0" i="0" u="none" strike="noStrike" cap="none">
                <a:solidFill>
                  <a:srgbClr val="D6E4F7"/>
                </a:solidFill>
                <a:latin typeface="Calibri"/>
                <a:ea typeface="Calibri"/>
                <a:cs typeface="Calibri"/>
                <a:sym typeface="Calibri"/>
              </a:rPr>
              <a:t>3.030 registros | 1.156 alunos ativos em 2024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Datathon POSTECH · Fase 5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2879F35-5ACA-77EB-5FCD-6126B570FB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3410" y="2076775"/>
            <a:ext cx="2390862" cy="9670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 w="12700" cap="flat" cmpd="sng">
            <a:solidFill>
              <a:srgbClr val="1B3A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320040" y="73152"/>
            <a:ext cx="85039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Contexto &amp; Perguntas do Datathon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320040" y="685800"/>
            <a:ext cx="85039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O que este projeto responde?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320040" y="1115568"/>
            <a:ext cx="4206240" cy="6400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320040" y="1115568"/>
            <a:ext cx="502920" cy="640080"/>
          </a:xfrm>
          <a:prstGeom prst="rect">
            <a:avLst/>
          </a:prstGeom>
          <a:solidFill>
            <a:srgbClr val="2E5FA3"/>
          </a:solidFill>
          <a:ln w="12700" cap="flat" cmpd="sng">
            <a:solidFill>
              <a:srgbClr val="2E5F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338328" y="1207008"/>
            <a:ext cx="46634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Q1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868680" y="1152144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5FA3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2E5FA3"/>
                </a:solidFill>
                <a:latin typeface="Calibri"/>
                <a:ea typeface="Calibri"/>
                <a:cs typeface="Calibri"/>
                <a:sym typeface="Calibri"/>
              </a:rPr>
              <a:t>IAN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868680" y="1389888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Qual o perfil de defasagem dos alunos e como evolui?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320040" y="1837944"/>
            <a:ext cx="4206240" cy="6400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320040" y="1837944"/>
            <a:ext cx="502920" cy="640080"/>
          </a:xfrm>
          <a:prstGeom prst="rect">
            <a:avLst/>
          </a:prstGeom>
          <a:solidFill>
            <a:srgbClr val="2E5FA3"/>
          </a:solidFill>
          <a:ln w="12700" cap="flat" cmpd="sng">
            <a:solidFill>
              <a:srgbClr val="2E5F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338328" y="1929384"/>
            <a:ext cx="46634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Q2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868680" y="1874520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5FA3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2E5FA3"/>
                </a:solidFill>
                <a:latin typeface="Calibri"/>
                <a:ea typeface="Calibri"/>
                <a:cs typeface="Calibri"/>
                <a:sym typeface="Calibri"/>
              </a:rPr>
              <a:t>IDA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868680" y="2112264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 desempenho acadêmico está melhorando, estagnado ou caindo?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320040" y="2560320"/>
            <a:ext cx="4206240" cy="6400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320040" y="2560320"/>
            <a:ext cx="502920" cy="640080"/>
          </a:xfrm>
          <a:prstGeom prst="rect">
            <a:avLst/>
          </a:prstGeom>
          <a:solidFill>
            <a:srgbClr val="2E5FA3"/>
          </a:solidFill>
          <a:ln w="12700" cap="flat" cmpd="sng">
            <a:solidFill>
              <a:srgbClr val="2E5F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338328" y="2651760"/>
            <a:ext cx="46634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Q3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868680" y="2596896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5FA3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2E5FA3"/>
                </a:solidFill>
                <a:latin typeface="Calibri"/>
                <a:ea typeface="Calibri"/>
                <a:cs typeface="Calibri"/>
                <a:sym typeface="Calibri"/>
              </a:rPr>
              <a:t>IEG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868680" y="283464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 engajamento tem relação com desempenho (IDA) e ponto de virada (IPV)?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320040" y="3282696"/>
            <a:ext cx="4206240" cy="6400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20040" y="3282696"/>
            <a:ext cx="502920" cy="640080"/>
          </a:xfrm>
          <a:prstGeom prst="rect">
            <a:avLst/>
          </a:prstGeom>
          <a:solidFill>
            <a:srgbClr val="2E5FA3"/>
          </a:solidFill>
          <a:ln w="12700" cap="flat" cmpd="sng">
            <a:solidFill>
              <a:srgbClr val="2E5F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338328" y="3374136"/>
            <a:ext cx="46634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Q4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868680" y="3319272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5FA3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2E5FA3"/>
                </a:solidFill>
                <a:latin typeface="Calibri"/>
                <a:ea typeface="Calibri"/>
                <a:cs typeface="Calibri"/>
                <a:sym typeface="Calibri"/>
              </a:rPr>
              <a:t>IAA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868680" y="3557016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pt-BR" sz="900" b="0" i="0" u="none" strike="noStrike" cap="none" noProof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 autopercepção dos alunos é coerente com o desempenho real?</a:t>
            </a:r>
            <a:endParaRPr lang="pt-BR" sz="900" b="0" i="0" u="none" strike="noStrike" cap="none" noProof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320040" y="4005072"/>
            <a:ext cx="4206240" cy="6400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4"/>
          <p:cNvSpPr/>
          <p:nvPr/>
        </p:nvSpPr>
        <p:spPr>
          <a:xfrm>
            <a:off x="320040" y="4005072"/>
            <a:ext cx="502920" cy="640080"/>
          </a:xfrm>
          <a:prstGeom prst="rect">
            <a:avLst/>
          </a:prstGeom>
          <a:solidFill>
            <a:srgbClr val="2E5FA3"/>
          </a:solidFill>
          <a:ln w="12700" cap="flat" cmpd="sng">
            <a:solidFill>
              <a:srgbClr val="2E5F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338328" y="4096512"/>
            <a:ext cx="46634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Q5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868680" y="4041648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5FA3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2E5FA3"/>
                </a:solidFill>
                <a:latin typeface="Calibri"/>
                <a:ea typeface="Calibri"/>
                <a:cs typeface="Calibri"/>
                <a:sym typeface="Calibri"/>
              </a:rPr>
              <a:t>IPS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868680" y="4279392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Padrões psicossociais antecedem quedas de desempenho?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4754880" y="1115568"/>
            <a:ext cx="4206240" cy="6400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4754880" y="1115568"/>
            <a:ext cx="502920" cy="640080"/>
          </a:xfrm>
          <a:prstGeom prst="rect">
            <a:avLst/>
          </a:prstGeom>
          <a:solidFill>
            <a:srgbClr val="2E5FA3"/>
          </a:solidFill>
          <a:ln w="12700" cap="flat" cmpd="sng">
            <a:solidFill>
              <a:srgbClr val="2E5F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4"/>
          <p:cNvSpPr/>
          <p:nvPr/>
        </p:nvSpPr>
        <p:spPr>
          <a:xfrm>
            <a:off x="4773168" y="1207008"/>
            <a:ext cx="46634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Q6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5303520" y="1152144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5FA3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2E5FA3"/>
                </a:solidFill>
                <a:latin typeface="Calibri"/>
                <a:ea typeface="Calibri"/>
                <a:cs typeface="Calibri"/>
                <a:sym typeface="Calibri"/>
              </a:rPr>
              <a:t>IPP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5303520" y="1389888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As avaliações psicopedagógicas confirmam ou contradizem o IAN?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4754880" y="1837944"/>
            <a:ext cx="4206240" cy="6400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4"/>
          <p:cNvSpPr/>
          <p:nvPr/>
        </p:nvSpPr>
        <p:spPr>
          <a:xfrm>
            <a:off x="4754880" y="1837944"/>
            <a:ext cx="502920" cy="640080"/>
          </a:xfrm>
          <a:prstGeom prst="rect">
            <a:avLst/>
          </a:prstGeom>
          <a:solidFill>
            <a:srgbClr val="2E5FA3"/>
          </a:solidFill>
          <a:ln w="12700" cap="flat" cmpd="sng">
            <a:solidFill>
              <a:srgbClr val="2E5F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4773168" y="1929384"/>
            <a:ext cx="46634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Q7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5303520" y="1874520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5FA3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2E5FA3"/>
                </a:solidFill>
                <a:latin typeface="Calibri"/>
                <a:ea typeface="Calibri"/>
                <a:cs typeface="Calibri"/>
                <a:sym typeface="Calibri"/>
              </a:rPr>
              <a:t>IPV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5303520" y="2112264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Quais comportamentos mais influenciam o Ponto de Virada?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4754880" y="2560320"/>
            <a:ext cx="4206240" cy="6400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4754880" y="2560320"/>
            <a:ext cx="502920" cy="640080"/>
          </a:xfrm>
          <a:prstGeom prst="rect">
            <a:avLst/>
          </a:prstGeom>
          <a:solidFill>
            <a:srgbClr val="2E5FA3"/>
          </a:solidFill>
          <a:ln w="12700" cap="flat" cmpd="sng">
            <a:solidFill>
              <a:srgbClr val="2E5F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4"/>
          <p:cNvSpPr/>
          <p:nvPr/>
        </p:nvSpPr>
        <p:spPr>
          <a:xfrm>
            <a:off x="4773168" y="2651760"/>
            <a:ext cx="46634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Q8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5303520" y="2596896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5FA3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2E5FA3"/>
                </a:solidFill>
                <a:latin typeface="Calibri"/>
                <a:ea typeface="Calibri"/>
                <a:cs typeface="Calibri"/>
                <a:sym typeface="Calibri"/>
              </a:rPr>
              <a:t>INDE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5303520" y="283464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Quais combinações de indicadores elevam mais o índice geral?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4754880" y="3282696"/>
            <a:ext cx="4206240" cy="6400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4"/>
          <p:cNvSpPr/>
          <p:nvPr/>
        </p:nvSpPr>
        <p:spPr>
          <a:xfrm>
            <a:off x="4754880" y="3282696"/>
            <a:ext cx="502920" cy="640080"/>
          </a:xfrm>
          <a:prstGeom prst="rect">
            <a:avLst/>
          </a:prstGeom>
          <a:solidFill>
            <a:srgbClr val="ED3337"/>
          </a:solidFill>
          <a:ln w="12700" cap="flat" cmpd="sng">
            <a:solidFill>
              <a:srgbClr val="ED333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4773168" y="3374136"/>
            <a:ext cx="46634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Q9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5303520" y="3319272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06C1A"/>
              </a:buClr>
              <a:buSzPts val="900"/>
              <a:buFont typeface="Calibri"/>
              <a:buNone/>
            </a:pPr>
            <a:r>
              <a:rPr lang="en-US" sz="900" b="1" i="0" u="none" strike="noStrike" cap="none" dirty="0">
                <a:solidFill>
                  <a:srgbClr val="ED3337"/>
                </a:solidFill>
                <a:latin typeface="Calibri"/>
                <a:ea typeface="Calibri"/>
                <a:cs typeface="Calibri"/>
                <a:sym typeface="Calibri"/>
              </a:rPr>
              <a:t>ML</a:t>
            </a:r>
            <a:endParaRPr sz="900" b="0" i="0" u="none" strike="noStrike" cap="none" dirty="0">
              <a:solidFill>
                <a:srgbClr val="ED33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5303520" y="3557016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Quais padrões permitem identificar alunos em risco? (Modelo preditivo)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4754880" y="4005072"/>
            <a:ext cx="4206240" cy="6400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4754880" y="4005072"/>
            <a:ext cx="502920" cy="640080"/>
          </a:xfrm>
          <a:prstGeom prst="rect">
            <a:avLst/>
          </a:prstGeom>
          <a:solidFill>
            <a:srgbClr val="2E5FA3"/>
          </a:solidFill>
          <a:ln w="12700" cap="flat" cmpd="sng">
            <a:solidFill>
              <a:srgbClr val="2E5FA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4"/>
          <p:cNvSpPr/>
          <p:nvPr/>
        </p:nvSpPr>
        <p:spPr>
          <a:xfrm>
            <a:off x="4773168" y="4096512"/>
            <a:ext cx="46634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Q10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5303520" y="4041648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5FA3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2E5FA3"/>
                </a:solidFill>
                <a:latin typeface="Calibri"/>
                <a:ea typeface="Calibri"/>
                <a:cs typeface="Calibri"/>
                <a:sym typeface="Calibri"/>
              </a:rPr>
              <a:t>Efetividade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5303520" y="4279392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Os indicadores mostram melhora consistente ao longo do ciclo?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344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D3337"/>
          </a:solidFill>
          <a:ln w="12700" cap="flat" cmpd="sng">
            <a:solidFill>
              <a:srgbClr val="ED333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5"/>
          <p:cNvSpPr/>
          <p:nvPr/>
        </p:nvSpPr>
        <p:spPr>
          <a:xfrm>
            <a:off x="73152" y="0"/>
            <a:ext cx="9070848" cy="5143500"/>
          </a:xfrm>
          <a:prstGeom prst="rect">
            <a:avLst/>
          </a:prstGeom>
          <a:solidFill>
            <a:srgbClr val="0F2344"/>
          </a:solidFill>
          <a:ln w="12700" cap="flat" cmpd="sng">
            <a:solidFill>
              <a:srgbClr val="0F23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5"/>
          <p:cNvSpPr/>
          <p:nvPr/>
        </p:nvSpPr>
        <p:spPr>
          <a:xfrm>
            <a:off x="914400" y="1463040"/>
            <a:ext cx="109728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06C1A"/>
              </a:buClr>
              <a:buSzPts val="6400"/>
              <a:buFont typeface="Calibri"/>
              <a:buNone/>
            </a:pPr>
            <a:r>
              <a:rPr lang="en-US" sz="6400" b="1" i="0" u="none" strike="noStrike" cap="none" dirty="0">
                <a:solidFill>
                  <a:srgbClr val="ED3337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6400" b="0" i="0" u="none" strike="noStrike" cap="none" dirty="0">
              <a:solidFill>
                <a:srgbClr val="ED33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2194560" y="1737360"/>
            <a:ext cx="65836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Visão Geral — Efetividade do Programa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2194560" y="2514600"/>
            <a:ext cx="6583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6E4F7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D6E4F7"/>
                </a:solidFill>
                <a:latin typeface="Calibri"/>
                <a:ea typeface="Calibri"/>
                <a:cs typeface="Calibri"/>
                <a:sym typeface="Calibri"/>
              </a:rPr>
              <a:t>Q1 · Defasagem (IAN)   |   Q2 · Desempenho (IDA)   |   Q10 · Efetividade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 w="12700" cap="flat" cmpd="sng">
            <a:solidFill>
              <a:srgbClr val="1B3A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6"/>
          <p:cNvSpPr/>
          <p:nvPr/>
        </p:nvSpPr>
        <p:spPr>
          <a:xfrm>
            <a:off x="320040" y="73152"/>
            <a:ext cx="85039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Aba 1 — </a:t>
            </a:r>
            <a:r>
              <a:rPr lang="en-US" sz="13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Visão</a:t>
            </a:r>
            <a:r>
              <a:rPr lang="en-US" sz="13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Geral  |  </a:t>
            </a:r>
            <a:r>
              <a:rPr lang="en-US" sz="13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Desempenho</a:t>
            </a:r>
            <a:r>
              <a:rPr lang="en-US" sz="13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Global (IDE) – </a:t>
            </a:r>
            <a:r>
              <a:rPr lang="en-US" sz="13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Distribuição</a:t>
            </a:r>
            <a:r>
              <a:rPr lang="en-US" sz="13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do </a:t>
            </a:r>
            <a:r>
              <a:rPr lang="en-US" sz="13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Nível</a:t>
            </a:r>
            <a:r>
              <a:rPr lang="en-US" sz="13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13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Adequação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182880" y="599806"/>
            <a:ext cx="4297680" cy="820863"/>
          </a:xfrm>
          <a:prstGeom prst="rect">
            <a:avLst/>
          </a:prstGeom>
          <a:solidFill>
            <a:srgbClr val="EDFDF4"/>
          </a:solidFill>
          <a:ln w="12700" cap="flat" cmpd="sng">
            <a:solidFill>
              <a:srgbClr val="27AE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6"/>
          <p:cNvSpPr/>
          <p:nvPr/>
        </p:nvSpPr>
        <p:spPr>
          <a:xfrm>
            <a:off x="615848" y="672782"/>
            <a:ext cx="3756171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050"/>
              <a:buFont typeface="Calibri"/>
              <a:buNone/>
            </a:pPr>
            <a:r>
              <a:rPr lang="pt-BR" sz="1050" b="1" i="0" u="none" strike="noStrike" cap="none" noProof="1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Q10 — O Programa Avança</a:t>
            </a:r>
            <a:endParaRPr lang="pt-BR" sz="1050" b="0" i="0" u="none" strike="noStrike" cap="none" noProof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320040" y="938134"/>
            <a:ext cx="4023360" cy="398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Arial" panose="020B0604020202020204" pitchFamily="34" charset="0"/>
              <a:buChar char="•"/>
            </a:pPr>
            <a:r>
              <a:rPr lang="pt-BR" sz="950" b="0" i="0" u="none" strike="noStrike" cap="none" noProof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2022 → 2024: alunos em fase subiram de 30% para 53,8%;</a:t>
            </a:r>
            <a:endParaRPr lang="pt-BR" sz="950" b="0" i="0" u="none" strike="noStrike" cap="none" noProof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Arial" panose="020B0604020202020204" pitchFamily="34" charset="0"/>
              <a:buChar char="•"/>
            </a:pPr>
            <a:r>
              <a:rPr lang="pt-BR" sz="950" b="0" i="0" u="none" strike="noStrike" cap="none" noProof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Ágata é o único grupo sem evolução aparente nos 3 anos — atenção prioritária.</a:t>
            </a:r>
            <a:endParaRPr lang="pt-BR" sz="950" b="0" i="0" u="none" strike="noStrike" cap="none" noProof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34728C-C6E4-35A9-8B5D-31F250B055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820" y="2178734"/>
            <a:ext cx="3449190" cy="28916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4237A86-7218-EDCB-DBE9-D8FADCED70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1646368"/>
            <a:ext cx="1926535" cy="51237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314E415-CB53-83FB-6628-CF4C64EA0E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3683" y="1646368"/>
            <a:ext cx="1926536" cy="50590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DCC9D2E-3A09-ED6D-3CD3-63C25FC48C64}"/>
              </a:ext>
            </a:extLst>
          </p:cNvPr>
          <p:cNvSpPr txBox="1"/>
          <p:nvPr/>
        </p:nvSpPr>
        <p:spPr>
          <a:xfrm>
            <a:off x="928780" y="1443841"/>
            <a:ext cx="434734" cy="238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buClr>
                <a:srgbClr val="64748B"/>
              </a:buClr>
              <a:buSzPts val="950"/>
              <a:buFont typeface="Calibri"/>
              <a:buNone/>
              <a:defRPr sz="95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r>
              <a:rPr lang="pt-BR" sz="1100" b="1" dirty="0"/>
              <a:t>2022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25FDD6-0693-446B-5D81-B81203EC559B}"/>
              </a:ext>
            </a:extLst>
          </p:cNvPr>
          <p:cNvSpPr txBox="1"/>
          <p:nvPr/>
        </p:nvSpPr>
        <p:spPr>
          <a:xfrm>
            <a:off x="2939584" y="1447128"/>
            <a:ext cx="434734" cy="238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>
              <a:buClr>
                <a:srgbClr val="64748B"/>
              </a:buClr>
              <a:buSzPts val="950"/>
              <a:buFont typeface="Calibri"/>
              <a:buNone/>
              <a:defRPr sz="95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r>
              <a:rPr lang="pt-BR" sz="1100" b="1" dirty="0"/>
              <a:t>2024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F54D9BC-2234-F6BA-CE3A-6C9FFC38DE7C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49631" y="667756"/>
            <a:ext cx="270378" cy="270378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C7EC4B24-089B-461A-84F0-453E11370211}"/>
              </a:ext>
            </a:extLst>
          </p:cNvPr>
          <p:cNvGrpSpPr/>
          <p:nvPr/>
        </p:nvGrpSpPr>
        <p:grpSpPr>
          <a:xfrm>
            <a:off x="4663442" y="599806"/>
            <a:ext cx="4799340" cy="820863"/>
            <a:chOff x="4663442" y="599806"/>
            <a:chExt cx="4799340" cy="820863"/>
          </a:xfrm>
        </p:grpSpPr>
        <p:sp>
          <p:nvSpPr>
            <p:cNvPr id="128" name="Google Shape;128;p6"/>
            <p:cNvSpPr/>
            <p:nvPr/>
          </p:nvSpPr>
          <p:spPr>
            <a:xfrm>
              <a:off x="4663442" y="599806"/>
              <a:ext cx="4297680" cy="820863"/>
            </a:xfrm>
            <a:prstGeom prst="rect">
              <a:avLst/>
            </a:prstGeom>
            <a:solidFill>
              <a:srgbClr val="F15936">
                <a:alpha val="29000"/>
              </a:srgbClr>
            </a:solidFill>
            <a:ln w="12700" cap="flat" cmpd="sng">
              <a:solidFill>
                <a:srgbClr val="F1593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1421B78-9576-EBB3-F8A3-14A8C010D974}"/>
                </a:ext>
              </a:extLst>
            </p:cNvPr>
            <p:cNvSpPr txBox="1"/>
            <p:nvPr/>
          </p:nvSpPr>
          <p:spPr>
            <a:xfrm>
              <a:off x="5032881" y="673142"/>
              <a:ext cx="3754800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rtl="0">
                <a:buNone/>
              </a:pPr>
              <a:r>
                <a:rPr lang="pt-BR" sz="1050" b="1" i="0" u="none" strike="noStrike" noProof="1">
                  <a:solidFill>
                    <a:srgbClr val="F15936"/>
                  </a:solidFill>
                  <a:effectLst/>
                  <a:latin typeface="Calibri" panose="020F0502020204030204" pitchFamily="34" charset="0"/>
                </a:rPr>
                <a:t>Q1 — O Desafio Real: Defasagem Moderada</a:t>
              </a:r>
              <a:endParaRPr lang="pt-BR" sz="1050" b="0" noProof="1">
                <a:solidFill>
                  <a:srgbClr val="F15936"/>
                </a:solidFill>
                <a:effectLst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FA17C98-DC63-33F4-843D-F0ABC3200DD3}"/>
                </a:ext>
              </a:extLst>
            </p:cNvPr>
            <p:cNvSpPr txBox="1"/>
            <p:nvPr/>
          </p:nvSpPr>
          <p:spPr>
            <a:xfrm>
              <a:off x="4806892" y="916701"/>
              <a:ext cx="4655890" cy="4200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0" indent="0">
                <a:buClr>
                  <a:srgbClr val="64748B"/>
                </a:buClr>
                <a:buSzPts val="950"/>
                <a:buFont typeface="Calibri"/>
                <a:buNone/>
                <a:defRPr sz="950">
                  <a:solidFill>
                    <a:srgbClr val="64748B"/>
                  </a:solidFill>
                  <a:latin typeface="Calibri"/>
                  <a:ea typeface="Calibri"/>
                  <a:cs typeface="Calibri"/>
                </a:defRPr>
              </a:lvl1pPr>
            </a:lstStyle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pt-BR" noProof="1"/>
                <a:t>531 alunos (45,9%) ainda estão em defasagem moderada em 2024;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pt-BR" noProof="1"/>
                <a:t>A proporção cai (66,6% → 45,9%), mas o volume absoluto resiste.</a:t>
              </a: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A176B12B-5E07-40C2-6E95-CE4B9B946C2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759281" y="653458"/>
              <a:ext cx="273600" cy="273600"/>
            </a:xfrm>
            <a:prstGeom prst="rect">
              <a:avLst/>
            </a:prstGeom>
          </p:spPr>
        </p:pic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A0607BD6-C74E-58E0-88D5-402A8F7E8DC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60310" y="2200222"/>
            <a:ext cx="4503944" cy="22898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 w="12700" cap="flat" cmpd="sng">
            <a:solidFill>
              <a:srgbClr val="1B3A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7"/>
          <p:cNvSpPr/>
          <p:nvPr/>
        </p:nvSpPr>
        <p:spPr>
          <a:xfrm>
            <a:off x="320040" y="73152"/>
            <a:ext cx="85039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Aba 1 — </a:t>
            </a:r>
            <a:r>
              <a:rPr lang="en-US" sz="13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Visão</a:t>
            </a:r>
            <a:r>
              <a:rPr lang="en-US" sz="13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Geral  |  </a:t>
            </a:r>
            <a:r>
              <a:rPr lang="en-US" sz="13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Desempenho</a:t>
            </a:r>
            <a:r>
              <a:rPr lang="en-US" sz="13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Acadêmico</a:t>
            </a:r>
            <a:r>
              <a:rPr lang="en-US" sz="13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(IDA)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5806440" y="914400"/>
            <a:ext cx="3108960" cy="960120"/>
          </a:xfrm>
          <a:prstGeom prst="rect">
            <a:avLst/>
          </a:prstGeom>
          <a:solidFill>
            <a:srgbClr val="ED3337">
              <a:alpha val="20978"/>
            </a:srgbClr>
          </a:solidFill>
          <a:ln w="19050" cap="flat" cmpd="sng">
            <a:solidFill>
              <a:srgbClr val="ED3337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6260536" y="1023373"/>
            <a:ext cx="1346433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Calibri"/>
              <a:buNone/>
            </a:pPr>
            <a:r>
              <a:rPr lang="pt-BR" sz="1100" b="1" i="0" u="none" strike="noStrike" cap="none" noProof="1">
                <a:solidFill>
                  <a:srgbClr val="ED3337"/>
                </a:solidFill>
                <a:latin typeface="Calibri"/>
                <a:ea typeface="Calibri"/>
                <a:cs typeface="Calibri"/>
                <a:sym typeface="Calibri"/>
              </a:rPr>
              <a:t>Alerta: Fase 4</a:t>
            </a:r>
            <a:endParaRPr lang="pt-BR" sz="1100" b="0" i="0" u="none" strike="noStrike" cap="none" noProof="1">
              <a:solidFill>
                <a:srgbClr val="ED33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5943600" y="1261872"/>
            <a:ext cx="28346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00"/>
              <a:buFont typeface="Calibri"/>
              <a:buNone/>
            </a:pPr>
            <a:r>
              <a:rPr lang="pt-BR" sz="1000" b="0" i="0" u="none" strike="noStrike" cap="none" noProof="1">
                <a:solidFill>
                  <a:srgbClr val="ED3337"/>
                </a:solidFill>
                <a:latin typeface="Calibri"/>
                <a:ea typeface="Calibri"/>
                <a:cs typeface="Calibri"/>
                <a:sym typeface="Calibri"/>
              </a:rPr>
              <a:t>Única fase que regrediu.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00"/>
              <a:buFont typeface="Calibri"/>
              <a:buNone/>
            </a:pPr>
            <a:r>
              <a:rPr lang="pt-BR" sz="1000" b="0" i="0" u="none" strike="noStrike" cap="none" noProof="1">
                <a:solidFill>
                  <a:srgbClr val="ED3337"/>
                </a:solidFill>
                <a:latin typeface="Calibri"/>
                <a:ea typeface="Calibri"/>
                <a:cs typeface="Calibri"/>
                <a:sym typeface="Calibri"/>
              </a:rPr>
              <a:t>Fase 4: 6,0 → 5,88 (- 0,17).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FCCB097-0E0F-1315-4A97-15E89EAB16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686" y="1317036"/>
            <a:ext cx="4753878" cy="27429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76ADC1E-5636-3572-BC70-927D81102B09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rgbClr val="ED3337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11200"/>
                    </a14:imgEffect>
                    <a14:imgEffect>
                      <a14:saturation sat="400000"/>
                    </a14:imgEffect>
                    <a14:imgEffect>
                      <a14:brightnessContrast bright="4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943600" y="1014984"/>
            <a:ext cx="246888" cy="246888"/>
          </a:xfrm>
          <a:prstGeom prst="rect">
            <a:avLst/>
          </a:prstGeom>
          <a:ln>
            <a:noFill/>
          </a:ln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6C773FFE-86EF-A756-AD81-A250CC4709D2}"/>
              </a:ext>
            </a:extLst>
          </p:cNvPr>
          <p:cNvGrpSpPr/>
          <p:nvPr/>
        </p:nvGrpSpPr>
        <p:grpSpPr>
          <a:xfrm>
            <a:off x="5806440" y="2011680"/>
            <a:ext cx="3110400" cy="457200"/>
            <a:chOff x="5806440" y="2011680"/>
            <a:chExt cx="3108960" cy="457200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FA22D6D7-E82C-644D-E995-49BB1E950B7F}"/>
                </a:ext>
              </a:extLst>
            </p:cNvPr>
            <p:cNvGrpSpPr/>
            <p:nvPr/>
          </p:nvGrpSpPr>
          <p:grpSpPr>
            <a:xfrm>
              <a:off x="5806440" y="2011680"/>
              <a:ext cx="3108960" cy="457200"/>
              <a:chOff x="5806440" y="2011680"/>
              <a:chExt cx="3108960" cy="457200"/>
            </a:xfrm>
          </p:grpSpPr>
          <p:sp>
            <p:nvSpPr>
              <p:cNvPr id="143" name="Google Shape;143;p7"/>
              <p:cNvSpPr/>
              <p:nvPr/>
            </p:nvSpPr>
            <p:spPr>
              <a:xfrm>
                <a:off x="5806440" y="2011680"/>
                <a:ext cx="3108960" cy="457200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45" name="Google Shape;145;p7"/>
              <p:cNvSpPr/>
              <p:nvPr/>
            </p:nvSpPr>
            <p:spPr>
              <a:xfrm>
                <a:off x="6217920" y="2075688"/>
                <a:ext cx="2606040" cy="3474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64748B"/>
                  </a:buClr>
                  <a:buSzPts val="950"/>
                  <a:buFont typeface="Calibri"/>
                  <a:buNone/>
                </a:pPr>
                <a:r>
                  <a:rPr lang="pt-PT" sz="950" noProof="1">
                    <a:solidFill>
                      <a:srgbClr val="64748B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7</a:t>
                </a:r>
                <a:r>
                  <a:rPr lang="pt-PT" sz="950" b="0" i="0" u="none" strike="noStrike" cap="none" noProof="1">
                    <a:solidFill>
                      <a:srgbClr val="64748B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de 8 fases melhoraram o IDA entre 2022 e 2024.</a:t>
                </a:r>
                <a:endParaRPr lang="pt-PT" sz="950" b="0" i="0" u="none" strike="noStrike" cap="none" noProof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82788A79-F974-3D0A-313E-C0573AA427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saturation sat="40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5876991" y="2121408"/>
                <a:ext cx="249489" cy="249489"/>
              </a:xfrm>
              <a:prstGeom prst="rect">
                <a:avLst/>
              </a:prstGeom>
            </p:spPr>
          </p:pic>
        </p:grpSp>
        <p:sp>
          <p:nvSpPr>
            <p:cNvPr id="14" name="Google Shape;235;p10">
              <a:extLst>
                <a:ext uri="{FF2B5EF4-FFF2-40B4-BE49-F238E27FC236}">
                  <a16:creationId xmlns:a16="http://schemas.microsoft.com/office/drawing/2014/main" id="{37937DB6-8053-E222-9DFC-23E83BFEB527}"/>
                </a:ext>
              </a:extLst>
            </p:cNvPr>
            <p:cNvSpPr/>
            <p:nvPr/>
          </p:nvSpPr>
          <p:spPr>
            <a:xfrm>
              <a:off x="5816374" y="2021457"/>
              <a:ext cx="3089200" cy="45719"/>
            </a:xfrm>
            <a:prstGeom prst="rect">
              <a:avLst/>
            </a:prstGeom>
            <a:solidFill>
              <a:srgbClr val="2E5FA3"/>
            </a:solidFill>
            <a:ln w="12700" cap="flat" cmpd="sng">
              <a:solidFill>
                <a:srgbClr val="2E5FA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777550F-840F-1BFC-39FB-DD93A4DFD706}"/>
              </a:ext>
            </a:extLst>
          </p:cNvPr>
          <p:cNvGrpSpPr/>
          <p:nvPr/>
        </p:nvGrpSpPr>
        <p:grpSpPr>
          <a:xfrm>
            <a:off x="5806440" y="2542032"/>
            <a:ext cx="3108960" cy="457200"/>
            <a:chOff x="5806440" y="2542032"/>
            <a:chExt cx="3108960" cy="457200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A4907D8-B184-59E0-3B9C-BDEE13363CE8}"/>
                </a:ext>
              </a:extLst>
            </p:cNvPr>
            <p:cNvGrpSpPr/>
            <p:nvPr/>
          </p:nvGrpSpPr>
          <p:grpSpPr>
            <a:xfrm>
              <a:off x="5806440" y="2542032"/>
              <a:ext cx="3108960" cy="457200"/>
              <a:chOff x="5806440" y="2542032"/>
              <a:chExt cx="3108960" cy="457200"/>
            </a:xfrm>
          </p:grpSpPr>
          <p:sp>
            <p:nvSpPr>
              <p:cNvPr id="146" name="Google Shape;146;p7"/>
              <p:cNvSpPr/>
              <p:nvPr/>
            </p:nvSpPr>
            <p:spPr>
              <a:xfrm>
                <a:off x="5806440" y="2542032"/>
                <a:ext cx="3108960" cy="457200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Google Shape;148;p7"/>
              <p:cNvSpPr/>
              <p:nvPr/>
            </p:nvSpPr>
            <p:spPr>
              <a:xfrm>
                <a:off x="6217920" y="2606040"/>
                <a:ext cx="2606040" cy="3474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64748B"/>
                  </a:buClr>
                  <a:buSzPts val="950"/>
                  <a:buFont typeface="Calibri"/>
                  <a:buNone/>
                </a:pPr>
                <a:r>
                  <a:rPr lang="pt-PT" sz="950" b="0" i="0" u="none" strike="noStrike" cap="none" noProof="1">
                    <a:solidFill>
                      <a:srgbClr val="64748B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Q2: </a:t>
                </a:r>
                <a:r>
                  <a:rPr lang="pt-PT" sz="950" noProof="1">
                    <a:solidFill>
                      <a:srgbClr val="64748B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Fase 2: maior salto do programa (+ 0,84) – de 5,41 para 6,25.</a:t>
                </a:r>
                <a:endParaRPr lang="pt-PT" sz="950" b="0" i="0" u="none" strike="noStrike" cap="none" noProof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52ABEF45-A5BF-95B6-38AF-F4C5FC2E606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duotone>
                  <a:prstClr val="black"/>
                  <a:schemeClr val="accent5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5875380" y="2633832"/>
                <a:ext cx="273600" cy="273600"/>
              </a:xfrm>
              <a:prstGeom prst="rect">
                <a:avLst/>
              </a:prstGeom>
            </p:spPr>
          </p:pic>
        </p:grpSp>
        <p:sp>
          <p:nvSpPr>
            <p:cNvPr id="15" name="Google Shape;235;p10">
              <a:extLst>
                <a:ext uri="{FF2B5EF4-FFF2-40B4-BE49-F238E27FC236}">
                  <a16:creationId xmlns:a16="http://schemas.microsoft.com/office/drawing/2014/main" id="{8F653659-94FC-9B3D-CDFF-45D673700E51}"/>
                </a:ext>
              </a:extLst>
            </p:cNvPr>
            <p:cNvSpPr/>
            <p:nvPr/>
          </p:nvSpPr>
          <p:spPr>
            <a:xfrm>
              <a:off x="5814829" y="2552499"/>
              <a:ext cx="3092400" cy="45719"/>
            </a:xfrm>
            <a:prstGeom prst="rect">
              <a:avLst/>
            </a:prstGeom>
            <a:solidFill>
              <a:srgbClr val="2E5FA3"/>
            </a:solidFill>
            <a:ln w="12700" cap="flat" cmpd="sng">
              <a:solidFill>
                <a:srgbClr val="2E5FA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5AB159B-1FB5-320C-19B6-B23BD6D2E507}"/>
              </a:ext>
            </a:extLst>
          </p:cNvPr>
          <p:cNvGrpSpPr/>
          <p:nvPr/>
        </p:nvGrpSpPr>
        <p:grpSpPr>
          <a:xfrm>
            <a:off x="5806440" y="3072384"/>
            <a:ext cx="3108960" cy="457200"/>
            <a:chOff x="5806440" y="3072384"/>
            <a:chExt cx="3108960" cy="457200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CD34D648-63BD-932A-56F9-FBF89CB7A931}"/>
                </a:ext>
              </a:extLst>
            </p:cNvPr>
            <p:cNvGrpSpPr/>
            <p:nvPr/>
          </p:nvGrpSpPr>
          <p:grpSpPr>
            <a:xfrm>
              <a:off x="5806440" y="3072384"/>
              <a:ext cx="3108960" cy="457200"/>
              <a:chOff x="5806440" y="3072384"/>
              <a:chExt cx="3108960" cy="457200"/>
            </a:xfrm>
          </p:grpSpPr>
          <p:sp>
            <p:nvSpPr>
              <p:cNvPr id="149" name="Google Shape;149;p7"/>
              <p:cNvSpPr/>
              <p:nvPr/>
            </p:nvSpPr>
            <p:spPr>
              <a:xfrm>
                <a:off x="5806440" y="3072384"/>
                <a:ext cx="3108960" cy="457200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7"/>
              <p:cNvSpPr/>
              <p:nvPr/>
            </p:nvSpPr>
            <p:spPr>
              <a:xfrm>
                <a:off x="6217920" y="3136392"/>
                <a:ext cx="2606040" cy="3474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64748B"/>
                  </a:buClr>
                  <a:buSzPts val="950"/>
                  <a:buFont typeface="Calibri"/>
                  <a:buNone/>
                </a:pPr>
                <a:r>
                  <a:rPr lang="pt-BR" sz="950" b="0" i="0" u="none" strike="noStrike" cap="none" noProof="1">
                    <a:solidFill>
                      <a:srgbClr val="64748B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Alfa lidera o IDA absoluto nos dois anos – base do programa é sólida.</a:t>
                </a:r>
                <a:endParaRPr lang="pt-BR" sz="950" b="0" i="0" u="none" strike="noStrike" cap="none" noProof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877FB91F-C01B-91A0-6066-7F27D77D254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>
                <a:off x="5893878" y="3184150"/>
                <a:ext cx="232602" cy="232602"/>
              </a:xfrm>
              <a:prstGeom prst="rect">
                <a:avLst/>
              </a:prstGeom>
            </p:spPr>
          </p:pic>
        </p:grpSp>
        <p:sp>
          <p:nvSpPr>
            <p:cNvPr id="16" name="Google Shape;235;p10">
              <a:extLst>
                <a:ext uri="{FF2B5EF4-FFF2-40B4-BE49-F238E27FC236}">
                  <a16:creationId xmlns:a16="http://schemas.microsoft.com/office/drawing/2014/main" id="{4CC45F86-AC82-0911-18A6-79AB1AF06542}"/>
                </a:ext>
              </a:extLst>
            </p:cNvPr>
            <p:cNvSpPr/>
            <p:nvPr/>
          </p:nvSpPr>
          <p:spPr>
            <a:xfrm>
              <a:off x="5814829" y="3079054"/>
              <a:ext cx="3092400" cy="45719"/>
            </a:xfrm>
            <a:prstGeom prst="rect">
              <a:avLst/>
            </a:prstGeom>
            <a:solidFill>
              <a:srgbClr val="2E5FA3"/>
            </a:solidFill>
            <a:ln w="12700" cap="flat" cmpd="sng">
              <a:solidFill>
                <a:srgbClr val="2E5FA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C400F3C-553D-3710-C6E1-34F078971DBA}"/>
              </a:ext>
            </a:extLst>
          </p:cNvPr>
          <p:cNvGrpSpPr/>
          <p:nvPr/>
        </p:nvGrpSpPr>
        <p:grpSpPr>
          <a:xfrm>
            <a:off x="5806440" y="3602736"/>
            <a:ext cx="3108960" cy="457200"/>
            <a:chOff x="5806440" y="3602736"/>
            <a:chExt cx="3108960" cy="457200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10EE2E27-A5AC-A73D-1F37-1B3EDC2C439A}"/>
                </a:ext>
              </a:extLst>
            </p:cNvPr>
            <p:cNvGrpSpPr/>
            <p:nvPr/>
          </p:nvGrpSpPr>
          <p:grpSpPr>
            <a:xfrm>
              <a:off x="5806440" y="3602736"/>
              <a:ext cx="3108960" cy="457200"/>
              <a:chOff x="5806440" y="3602736"/>
              <a:chExt cx="3108960" cy="457200"/>
            </a:xfrm>
          </p:grpSpPr>
          <p:sp>
            <p:nvSpPr>
              <p:cNvPr id="152" name="Google Shape;152;p7"/>
              <p:cNvSpPr/>
              <p:nvPr/>
            </p:nvSpPr>
            <p:spPr>
              <a:xfrm>
                <a:off x="5806440" y="3602736"/>
                <a:ext cx="3108960" cy="457200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Google Shape;154;p7"/>
              <p:cNvSpPr/>
              <p:nvPr/>
            </p:nvSpPr>
            <p:spPr>
              <a:xfrm>
                <a:off x="6217920" y="3666744"/>
                <a:ext cx="2606040" cy="3474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>
                  <a:buClr>
                    <a:srgbClr val="64748B"/>
                  </a:buClr>
                  <a:buSzPts val="950"/>
                </a:pPr>
                <a:r>
                  <a:rPr lang="pt-BR" sz="950" dirty="0">
                    <a:solidFill>
                      <a:srgbClr val="64748B"/>
                    </a:solidFill>
                    <a:latin typeface="Calibri"/>
                    <a:cs typeface="Calibri"/>
                    <a:sym typeface="Calibri"/>
                  </a:rPr>
                  <a:t>Fases 3 e 7 estão abaixo de 5,9 em 2024 – zona de atenção.</a:t>
                </a:r>
                <a:endParaRPr sz="950" dirty="0">
                  <a:solidFill>
                    <a:srgbClr val="64748B"/>
                  </a:solidFill>
                  <a:latin typeface="Calibri"/>
                  <a:cs typeface="Calibri"/>
                  <a:sym typeface="Calibri"/>
                </a:endParaRPr>
              </a:p>
            </p:txBody>
          </p:sp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02958ABE-5CE9-92FB-9CD4-99221A9C204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870653" y="3694536"/>
                <a:ext cx="273600" cy="273600"/>
              </a:xfrm>
              <a:prstGeom prst="rect">
                <a:avLst/>
              </a:prstGeom>
            </p:spPr>
          </p:pic>
        </p:grpSp>
        <p:sp>
          <p:nvSpPr>
            <p:cNvPr id="17" name="Google Shape;235;p10">
              <a:extLst>
                <a:ext uri="{FF2B5EF4-FFF2-40B4-BE49-F238E27FC236}">
                  <a16:creationId xmlns:a16="http://schemas.microsoft.com/office/drawing/2014/main" id="{26E864BA-22AC-0702-F482-C40EF1B3B0B1}"/>
                </a:ext>
              </a:extLst>
            </p:cNvPr>
            <p:cNvSpPr/>
            <p:nvPr/>
          </p:nvSpPr>
          <p:spPr>
            <a:xfrm>
              <a:off x="5811011" y="3613547"/>
              <a:ext cx="3092400" cy="45719"/>
            </a:xfrm>
            <a:prstGeom prst="rect">
              <a:avLst/>
            </a:prstGeom>
            <a:solidFill>
              <a:srgbClr val="F15936"/>
            </a:solidFill>
            <a:ln w="12700" cap="flat" cmpd="sng">
              <a:solidFill>
                <a:srgbClr val="F1593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86A191C-76E7-04AA-1549-74061F9656CB}"/>
              </a:ext>
            </a:extLst>
          </p:cNvPr>
          <p:cNvGrpSpPr/>
          <p:nvPr/>
        </p:nvGrpSpPr>
        <p:grpSpPr>
          <a:xfrm>
            <a:off x="5806440" y="4133088"/>
            <a:ext cx="3108960" cy="457200"/>
            <a:chOff x="5806440" y="4133088"/>
            <a:chExt cx="3108960" cy="457200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5062B96F-8393-0DB8-0AD0-8C6A9A404545}"/>
                </a:ext>
              </a:extLst>
            </p:cNvPr>
            <p:cNvGrpSpPr/>
            <p:nvPr/>
          </p:nvGrpSpPr>
          <p:grpSpPr>
            <a:xfrm>
              <a:off x="5806440" y="4133088"/>
              <a:ext cx="3108960" cy="457200"/>
              <a:chOff x="5806440" y="4133088"/>
              <a:chExt cx="3108960" cy="457200"/>
            </a:xfrm>
          </p:grpSpPr>
          <p:sp>
            <p:nvSpPr>
              <p:cNvPr id="155" name="Google Shape;155;p7"/>
              <p:cNvSpPr/>
              <p:nvPr/>
            </p:nvSpPr>
            <p:spPr>
              <a:xfrm>
                <a:off x="5806440" y="4133088"/>
                <a:ext cx="3108960" cy="457200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Google Shape;157;p7"/>
              <p:cNvSpPr/>
              <p:nvPr/>
            </p:nvSpPr>
            <p:spPr>
              <a:xfrm>
                <a:off x="6217920" y="4197096"/>
                <a:ext cx="2606040" cy="3474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>
                  <a:buClr>
                    <a:srgbClr val="64748B"/>
                  </a:buClr>
                  <a:buSzPts val="950"/>
                </a:pPr>
                <a:r>
                  <a:rPr lang="pt-BR" sz="950" dirty="0">
                    <a:solidFill>
                      <a:srgbClr val="64748B"/>
                    </a:solidFill>
                    <a:latin typeface="Calibri"/>
                    <a:cs typeface="Calibri"/>
                    <a:sym typeface="Calibri"/>
                  </a:rPr>
                  <a:t>Fase 4: único ponto de regressão – investigar causas pedagógicas.</a:t>
                </a:r>
                <a:endParaRPr sz="950" dirty="0">
                  <a:solidFill>
                    <a:srgbClr val="64748B"/>
                  </a:solidFill>
                  <a:latin typeface="Calibri"/>
                  <a:cs typeface="Calibri"/>
                  <a:sym typeface="Calibri"/>
                </a:endParaRPr>
              </a:p>
            </p:txBody>
          </p:sp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61286549-7859-942E-EC46-42391FAC67B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duotone>
                  <a:prstClr val="black"/>
                  <a:srgbClr val="ED3337">
                    <a:tint val="45000"/>
                    <a:satMod val="400000"/>
                  </a:srgbClr>
                </a:duotone>
              </a:blip>
              <a:stretch>
                <a:fillRect/>
              </a:stretch>
            </p:blipFill>
            <p:spPr>
              <a:xfrm>
                <a:off x="5864935" y="4235063"/>
                <a:ext cx="273600" cy="273600"/>
              </a:xfrm>
              <a:prstGeom prst="rect">
                <a:avLst/>
              </a:prstGeom>
            </p:spPr>
          </p:pic>
        </p:grpSp>
        <p:sp>
          <p:nvSpPr>
            <p:cNvPr id="18" name="Google Shape;235;p10">
              <a:extLst>
                <a:ext uri="{FF2B5EF4-FFF2-40B4-BE49-F238E27FC236}">
                  <a16:creationId xmlns:a16="http://schemas.microsoft.com/office/drawing/2014/main" id="{04D7E804-BB40-7BE9-A675-3FCB5DD7B3CB}"/>
                </a:ext>
              </a:extLst>
            </p:cNvPr>
            <p:cNvSpPr/>
            <p:nvPr/>
          </p:nvSpPr>
          <p:spPr>
            <a:xfrm>
              <a:off x="5814829" y="4143624"/>
              <a:ext cx="3092400" cy="45719"/>
            </a:xfrm>
            <a:prstGeom prst="rect">
              <a:avLst/>
            </a:prstGeom>
            <a:solidFill>
              <a:srgbClr val="ED3337"/>
            </a:solidFill>
            <a:ln w="12700" cap="flat" cmpd="sng">
              <a:solidFill>
                <a:srgbClr val="ED333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344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8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D3337"/>
          </a:solidFill>
          <a:ln w="12700" cap="flat" cmpd="sng">
            <a:solidFill>
              <a:srgbClr val="ED333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8"/>
          <p:cNvSpPr/>
          <p:nvPr/>
        </p:nvSpPr>
        <p:spPr>
          <a:xfrm>
            <a:off x="73152" y="0"/>
            <a:ext cx="9070848" cy="5143500"/>
          </a:xfrm>
          <a:prstGeom prst="rect">
            <a:avLst/>
          </a:prstGeom>
          <a:solidFill>
            <a:srgbClr val="0F2344"/>
          </a:solidFill>
          <a:ln w="12700" cap="flat" cmpd="sng">
            <a:solidFill>
              <a:srgbClr val="0F23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8"/>
          <p:cNvSpPr/>
          <p:nvPr/>
        </p:nvSpPr>
        <p:spPr>
          <a:xfrm>
            <a:off x="914400" y="1463040"/>
            <a:ext cx="109728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06C1A"/>
              </a:buClr>
              <a:buSzPts val="6400"/>
              <a:buFont typeface="Calibri"/>
              <a:buNone/>
            </a:pPr>
            <a:r>
              <a:rPr lang="en-US" sz="6400" b="1" i="0" u="none" strike="noStrike" cap="none" dirty="0">
                <a:solidFill>
                  <a:srgbClr val="ED3337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6400" b="0" i="0" u="none" strike="noStrike" cap="none" dirty="0">
              <a:solidFill>
                <a:srgbClr val="ED33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2194560" y="1737360"/>
            <a:ext cx="65836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Motor do Desempenho — Cruzamento de Dimensões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2194560" y="2514600"/>
            <a:ext cx="6583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6E4F7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D6E4F7"/>
                </a:solidFill>
                <a:latin typeface="Calibri"/>
                <a:ea typeface="Calibri"/>
                <a:cs typeface="Calibri"/>
                <a:sym typeface="Calibri"/>
              </a:rPr>
              <a:t>Q3 · Engajamento (IEG)   |   Q4 · Autopercepção (IAA)   |   Q6 · Psicopedagógico (IPP)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9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 w="12700" cap="flat" cmpd="sng">
            <a:solidFill>
              <a:srgbClr val="1B3A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9"/>
          <p:cNvSpPr/>
          <p:nvPr/>
        </p:nvSpPr>
        <p:spPr>
          <a:xfrm>
            <a:off x="320040" y="73152"/>
            <a:ext cx="85039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Aba 2 — Motor do Desempenho  |  KPIs &amp; Engajamento vs. Desempenho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832367B-6EE6-FB78-59D2-A137378A51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1087" y="3014784"/>
            <a:ext cx="2418226" cy="205275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E52B0A9-07DF-6F8B-2C26-5E24F0B39F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8771" y="693276"/>
            <a:ext cx="2637964" cy="222879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3B8DA26-8173-7399-3C83-FF4127CAC9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47" y="714954"/>
            <a:ext cx="2637964" cy="223034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543EEA5-93E3-59B4-E0E1-7368C88D6B7F}"/>
              </a:ext>
            </a:extLst>
          </p:cNvPr>
          <p:cNvSpPr txBox="1"/>
          <p:nvPr/>
        </p:nvSpPr>
        <p:spPr>
          <a:xfrm>
            <a:off x="1175262" y="494928"/>
            <a:ext cx="434734" cy="238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buClr>
                <a:srgbClr val="64748B"/>
              </a:buClr>
              <a:buSzPts val="950"/>
              <a:buFont typeface="Calibri"/>
              <a:buNone/>
              <a:defRPr sz="95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r>
              <a:rPr lang="pt-BR" sz="1100" b="1" dirty="0"/>
              <a:t>2022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905FD7-E779-B5D5-0C3F-70F18EC09E9C}"/>
              </a:ext>
            </a:extLst>
          </p:cNvPr>
          <p:cNvSpPr txBox="1"/>
          <p:nvPr/>
        </p:nvSpPr>
        <p:spPr>
          <a:xfrm>
            <a:off x="4129313" y="4824190"/>
            <a:ext cx="434734" cy="238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>
              <a:buClr>
                <a:srgbClr val="64748B"/>
              </a:buClr>
              <a:buSzPts val="950"/>
              <a:buFont typeface="Calibri"/>
              <a:buNone/>
              <a:defRPr sz="95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r>
              <a:rPr lang="pt-BR" sz="1100" b="1" dirty="0"/>
              <a:t>2024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CAC91FC-23C1-44E1-DE6C-857653B7736E}"/>
              </a:ext>
            </a:extLst>
          </p:cNvPr>
          <p:cNvSpPr txBox="1"/>
          <p:nvPr/>
        </p:nvSpPr>
        <p:spPr>
          <a:xfrm>
            <a:off x="3950386" y="494928"/>
            <a:ext cx="434734" cy="238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buClr>
                <a:srgbClr val="64748B"/>
              </a:buClr>
              <a:buSzPts val="950"/>
              <a:buFont typeface="Calibri"/>
              <a:buNone/>
              <a:defRPr sz="95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r>
              <a:rPr lang="pt-BR" sz="1100" b="1" dirty="0"/>
              <a:t>2023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B769A2A-7BBB-E382-618C-6C6742506FED}"/>
              </a:ext>
            </a:extLst>
          </p:cNvPr>
          <p:cNvGrpSpPr/>
          <p:nvPr/>
        </p:nvGrpSpPr>
        <p:grpSpPr>
          <a:xfrm>
            <a:off x="5953004" y="576073"/>
            <a:ext cx="3190996" cy="1180447"/>
            <a:chOff x="5794444" y="810585"/>
            <a:chExt cx="3190996" cy="1180447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442DB5A0-CD8D-5AF1-873E-28E4AE7A7173}"/>
                </a:ext>
              </a:extLst>
            </p:cNvPr>
            <p:cNvGrpSpPr/>
            <p:nvPr/>
          </p:nvGrpSpPr>
          <p:grpSpPr>
            <a:xfrm>
              <a:off x="5794444" y="810585"/>
              <a:ext cx="3108960" cy="1180447"/>
              <a:chOff x="5806440" y="4133087"/>
              <a:chExt cx="3108960" cy="1180447"/>
            </a:xfrm>
          </p:grpSpPr>
          <p:sp>
            <p:nvSpPr>
              <p:cNvPr id="18" name="Google Shape;155;p7">
                <a:extLst>
                  <a:ext uri="{FF2B5EF4-FFF2-40B4-BE49-F238E27FC236}">
                    <a16:creationId xmlns:a16="http://schemas.microsoft.com/office/drawing/2014/main" id="{4D3635B5-9727-039D-C501-E6C21F6A4479}"/>
                  </a:ext>
                </a:extLst>
              </p:cNvPr>
              <p:cNvSpPr/>
              <p:nvPr/>
            </p:nvSpPr>
            <p:spPr>
              <a:xfrm>
                <a:off x="5806440" y="4133087"/>
                <a:ext cx="3108960" cy="1180447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235;p10">
                <a:extLst>
                  <a:ext uri="{FF2B5EF4-FFF2-40B4-BE49-F238E27FC236}">
                    <a16:creationId xmlns:a16="http://schemas.microsoft.com/office/drawing/2014/main" id="{065BB79C-1EC2-4DC2-9DB4-CEE85B7F26B9}"/>
                  </a:ext>
                </a:extLst>
              </p:cNvPr>
              <p:cNvSpPr/>
              <p:nvPr/>
            </p:nvSpPr>
            <p:spPr>
              <a:xfrm>
                <a:off x="5814829" y="4143624"/>
                <a:ext cx="3092400" cy="45719"/>
              </a:xfrm>
              <a:prstGeom prst="rect">
                <a:avLst/>
              </a:prstGeom>
              <a:solidFill>
                <a:srgbClr val="ED3337"/>
              </a:solidFill>
              <a:ln w="12700" cap="flat" cmpd="sng">
                <a:solidFill>
                  <a:srgbClr val="ED333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F9206640-7DCA-C89A-5CA6-F04BE9AC44D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prstClr val="black"/>
                <a:srgbClr val="ED3337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colorTemperature colorTemp="11200"/>
                      </a14:imgEffect>
                      <a14:imgEffect>
                        <a14:saturation sat="400000"/>
                      </a14:imgEffect>
                      <a14:imgEffect>
                        <a14:brightnessContrast bright="40000" contrast="2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48342" y="901331"/>
              <a:ext cx="246888" cy="246888"/>
            </a:xfrm>
            <a:prstGeom prst="rect">
              <a:avLst/>
            </a:prstGeom>
            <a:ln>
              <a:noFill/>
            </a:ln>
          </p:spPr>
        </p:pic>
        <p:sp>
          <p:nvSpPr>
            <p:cNvPr id="8" name="Google Shape;142;p7">
              <a:extLst>
                <a:ext uri="{FF2B5EF4-FFF2-40B4-BE49-F238E27FC236}">
                  <a16:creationId xmlns:a16="http://schemas.microsoft.com/office/drawing/2014/main" id="{2AEC9CDF-71C8-2CC8-7A37-9E800A660237}"/>
                </a:ext>
              </a:extLst>
            </p:cNvPr>
            <p:cNvSpPr/>
            <p:nvPr/>
          </p:nvSpPr>
          <p:spPr>
            <a:xfrm>
              <a:off x="6149128" y="927803"/>
              <a:ext cx="2836312" cy="9460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171450" indent="-171450">
                <a:buClr>
                  <a:srgbClr val="64748B"/>
                </a:buClr>
                <a:buSzPts val="950"/>
                <a:buFont typeface="Arial" panose="020B0604020202020204" pitchFamily="34" charset="0"/>
                <a:buChar char="•"/>
              </a:pPr>
              <a:r>
                <a:rPr lang="pt-BR" sz="950" noProof="1">
                  <a:solidFill>
                    <a:srgbClr val="64748B"/>
                  </a:solidFill>
                  <a:latin typeface="Calibri"/>
                  <a:cs typeface="Calibri"/>
                </a:rPr>
                <a:t>Em 2022 havia mais pontos espalhados no extremo esquerdo (IEG próximo de 0);</a:t>
              </a:r>
            </a:p>
            <a:p>
              <a:pPr marL="171450" indent="-171450">
                <a:buClr>
                  <a:srgbClr val="64748B"/>
                </a:buClr>
                <a:buSzPts val="950"/>
                <a:buFont typeface="Arial" panose="020B0604020202020204" pitchFamily="34" charset="0"/>
                <a:buChar char="•"/>
              </a:pPr>
              <a:r>
                <a:rPr lang="pt-BR" sz="950" noProof="1">
                  <a:solidFill>
                    <a:srgbClr val="64748B"/>
                  </a:solidFill>
                  <a:latin typeface="Calibri"/>
                  <a:cs typeface="Calibri"/>
                </a:rPr>
                <a:t>Em 2024 essa cauda sumiu — menos alunos com engajamento muito baixo;</a:t>
              </a:r>
            </a:p>
            <a:p>
              <a:pPr marL="171450" indent="-171450">
                <a:buClr>
                  <a:srgbClr val="64748B"/>
                </a:buClr>
                <a:buSzPts val="950"/>
                <a:buFont typeface="Arial" panose="020B0604020202020204" pitchFamily="34" charset="0"/>
                <a:buChar char="•"/>
              </a:pPr>
              <a:r>
                <a:rPr lang="pt-BR" sz="950" b="1" noProof="1">
                  <a:solidFill>
                    <a:srgbClr val="64748B"/>
                  </a:solidFill>
                  <a:latin typeface="Calibri"/>
                  <a:cs typeface="Calibri"/>
                </a:rPr>
                <a:t>Sinal positivo: o programa retém melhor os alunos mais desengajados.</a:t>
              </a:r>
              <a:endParaRPr lang="pt-BR" sz="950" b="1" noProof="1">
                <a:solidFill>
                  <a:srgbClr val="64748B"/>
                </a:solidFill>
                <a:latin typeface="Calibri"/>
                <a:cs typeface="Calibri"/>
                <a:sym typeface="Calibri"/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1D027B0-A9AC-4875-8D65-FD9182FD257E}"/>
              </a:ext>
            </a:extLst>
          </p:cNvPr>
          <p:cNvGrpSpPr/>
          <p:nvPr/>
        </p:nvGrpSpPr>
        <p:grpSpPr>
          <a:xfrm>
            <a:off x="5961393" y="1812310"/>
            <a:ext cx="3108960" cy="1056542"/>
            <a:chOff x="5802833" y="2095927"/>
            <a:chExt cx="3108960" cy="1056542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B2555C4C-A68E-8ADF-4EC1-3EDDA38C0B30}"/>
                </a:ext>
              </a:extLst>
            </p:cNvPr>
            <p:cNvGrpSpPr/>
            <p:nvPr/>
          </p:nvGrpSpPr>
          <p:grpSpPr>
            <a:xfrm>
              <a:off x="5802833" y="2095927"/>
              <a:ext cx="3108960" cy="1056542"/>
              <a:chOff x="5806440" y="3602736"/>
              <a:chExt cx="3108960" cy="1056542"/>
            </a:xfrm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BEDBE9B1-6C5D-27B7-EDCC-9D23C82EBD8E}"/>
                  </a:ext>
                </a:extLst>
              </p:cNvPr>
              <p:cNvGrpSpPr/>
              <p:nvPr/>
            </p:nvGrpSpPr>
            <p:grpSpPr>
              <a:xfrm>
                <a:off x="5806440" y="3602736"/>
                <a:ext cx="3108960" cy="1056542"/>
                <a:chOff x="5806440" y="3602736"/>
                <a:chExt cx="3108960" cy="1056542"/>
              </a:xfrm>
            </p:grpSpPr>
            <p:sp>
              <p:nvSpPr>
                <p:cNvPr id="26" name="Google Shape;152;p7">
                  <a:extLst>
                    <a:ext uri="{FF2B5EF4-FFF2-40B4-BE49-F238E27FC236}">
                      <a16:creationId xmlns:a16="http://schemas.microsoft.com/office/drawing/2014/main" id="{11FA6959-FEC2-54B1-DEA3-0740CAE2F79F}"/>
                    </a:ext>
                  </a:extLst>
                </p:cNvPr>
                <p:cNvSpPr/>
                <p:nvPr/>
              </p:nvSpPr>
              <p:spPr>
                <a:xfrm>
                  <a:off x="5806440" y="3602736"/>
                  <a:ext cx="3108960" cy="1056542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>
                  <a:solidFill>
                    <a:srgbClr val="E2E8F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pic>
              <p:nvPicPr>
                <p:cNvPr id="28" name="Picture 27">
                  <a:extLst>
                    <a:ext uri="{FF2B5EF4-FFF2-40B4-BE49-F238E27FC236}">
                      <a16:creationId xmlns:a16="http://schemas.microsoft.com/office/drawing/2014/main" id="{977E19EA-7384-3037-02CA-E294089EB2E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870653" y="3694536"/>
                  <a:ext cx="273600" cy="273600"/>
                </a:xfrm>
                <a:prstGeom prst="rect">
                  <a:avLst/>
                </a:prstGeom>
              </p:spPr>
            </p:pic>
          </p:grpSp>
          <p:sp>
            <p:nvSpPr>
              <p:cNvPr id="25" name="Google Shape;235;p10">
                <a:extLst>
                  <a:ext uri="{FF2B5EF4-FFF2-40B4-BE49-F238E27FC236}">
                    <a16:creationId xmlns:a16="http://schemas.microsoft.com/office/drawing/2014/main" id="{ED04EC5C-30B4-2F3F-4C9A-E7E92B8B1A0E}"/>
                  </a:ext>
                </a:extLst>
              </p:cNvPr>
              <p:cNvSpPr/>
              <p:nvPr/>
            </p:nvSpPr>
            <p:spPr>
              <a:xfrm>
                <a:off x="5811011" y="3613547"/>
                <a:ext cx="3092400" cy="45719"/>
              </a:xfrm>
              <a:prstGeom prst="rect">
                <a:avLst/>
              </a:prstGeom>
              <a:solidFill>
                <a:srgbClr val="F15936"/>
              </a:solidFill>
              <a:ln w="12700" cap="flat" cmpd="sng">
                <a:solidFill>
                  <a:srgbClr val="F1593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051A451-ED9D-E6AD-65C2-7741CC2675B8}"/>
                </a:ext>
              </a:extLst>
            </p:cNvPr>
            <p:cNvSpPr txBox="1"/>
            <p:nvPr/>
          </p:nvSpPr>
          <p:spPr>
            <a:xfrm>
              <a:off x="6149128" y="2212547"/>
              <a:ext cx="2725123" cy="8233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>
                <a:buClr>
                  <a:srgbClr val="64748B"/>
                </a:buClr>
                <a:buSzPts val="950"/>
                <a:defRPr sz="950">
                  <a:solidFill>
                    <a:srgbClr val="64748B"/>
                  </a:solidFill>
                  <a:latin typeface="Calibri"/>
                  <a:cs typeface="Calibri"/>
                </a:defRPr>
              </a:lvl1pPr>
            </a:lstStyle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pt-BR" noProof="1"/>
                <a:t>Faixa vermelha à direita da linha vertical presente nos 3 anos — é estrutural;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pt-BR" noProof="1"/>
                <a:t>Não some com o tempo: alunos engajados sem resultado acadêmico persistem;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pt-BR" b="1" noProof="1"/>
                <a:t>Investigar: dificuldade de aprendizagem ou lacuna pedagógica não resolvida.</a:t>
              </a:r>
            </a:p>
            <a:p>
              <a:br>
                <a:rPr lang="pt-BR" noProof="1"/>
              </a:br>
              <a:endParaRPr lang="pt-BR" noProof="1"/>
            </a:p>
          </p:txBody>
        </p:sp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56347999-0FBE-CCF2-6D4C-C6C30CAC9339}"/>
              </a:ext>
            </a:extLst>
          </p:cNvPr>
          <p:cNvGrpSpPr/>
          <p:nvPr/>
        </p:nvGrpSpPr>
        <p:grpSpPr>
          <a:xfrm>
            <a:off x="5961393" y="2924642"/>
            <a:ext cx="3108960" cy="1056542"/>
            <a:chOff x="5961393" y="2924642"/>
            <a:chExt cx="3108960" cy="1056542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37A5D63B-2C79-DA81-BC0B-3D86FDBE01F5}"/>
                </a:ext>
              </a:extLst>
            </p:cNvPr>
            <p:cNvGrpSpPr/>
            <p:nvPr/>
          </p:nvGrpSpPr>
          <p:grpSpPr>
            <a:xfrm>
              <a:off x="5961393" y="2924642"/>
              <a:ext cx="3108960" cy="1056542"/>
              <a:chOff x="5806440" y="3602736"/>
              <a:chExt cx="3108960" cy="1056542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AF6317B3-440A-69A5-F7CD-13CF735E3EA0}"/>
                  </a:ext>
                </a:extLst>
              </p:cNvPr>
              <p:cNvGrpSpPr/>
              <p:nvPr/>
            </p:nvGrpSpPr>
            <p:grpSpPr>
              <a:xfrm>
                <a:off x="5806440" y="3602736"/>
                <a:ext cx="3108960" cy="1056542"/>
                <a:chOff x="5806440" y="3602736"/>
                <a:chExt cx="3108960" cy="1056542"/>
              </a:xfrm>
            </p:grpSpPr>
            <p:sp>
              <p:nvSpPr>
                <p:cNvPr id="37" name="Google Shape;152;p7">
                  <a:extLst>
                    <a:ext uri="{FF2B5EF4-FFF2-40B4-BE49-F238E27FC236}">
                      <a16:creationId xmlns:a16="http://schemas.microsoft.com/office/drawing/2014/main" id="{5B596DFD-A8A0-A3E6-7125-A24E498DFB24}"/>
                    </a:ext>
                  </a:extLst>
                </p:cNvPr>
                <p:cNvSpPr/>
                <p:nvPr/>
              </p:nvSpPr>
              <p:spPr>
                <a:xfrm>
                  <a:off x="5806440" y="3602736"/>
                  <a:ext cx="3108960" cy="1056542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>
                  <a:solidFill>
                    <a:srgbClr val="E2E8F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pic>
              <p:nvPicPr>
                <p:cNvPr id="38" name="Picture 37">
                  <a:extLst>
                    <a:ext uri="{FF2B5EF4-FFF2-40B4-BE49-F238E27FC236}">
                      <a16:creationId xmlns:a16="http://schemas.microsoft.com/office/drawing/2014/main" id="{1B16ADF5-E5D6-720A-7FA2-8458030D07F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870653" y="3694536"/>
                  <a:ext cx="273600" cy="273600"/>
                </a:xfrm>
                <a:prstGeom prst="rect">
                  <a:avLst/>
                </a:prstGeom>
              </p:spPr>
            </p:pic>
          </p:grpSp>
          <p:sp>
            <p:nvSpPr>
              <p:cNvPr id="36" name="Google Shape;235;p10">
                <a:extLst>
                  <a:ext uri="{FF2B5EF4-FFF2-40B4-BE49-F238E27FC236}">
                    <a16:creationId xmlns:a16="http://schemas.microsoft.com/office/drawing/2014/main" id="{B196993A-FE91-0164-8E51-ABF955CFD319}"/>
                  </a:ext>
                </a:extLst>
              </p:cNvPr>
              <p:cNvSpPr/>
              <p:nvPr/>
            </p:nvSpPr>
            <p:spPr>
              <a:xfrm>
                <a:off x="5811011" y="3613547"/>
                <a:ext cx="3092400" cy="45719"/>
              </a:xfrm>
              <a:prstGeom prst="rect">
                <a:avLst/>
              </a:prstGeom>
              <a:solidFill>
                <a:srgbClr val="F15936"/>
              </a:solidFill>
              <a:ln w="12700" cap="flat" cmpd="sng">
                <a:solidFill>
                  <a:srgbClr val="F1593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1E38A933-3766-121F-6726-01A61F81F2B7}"/>
                </a:ext>
              </a:extLst>
            </p:cNvPr>
            <p:cNvSpPr txBox="1"/>
            <p:nvPr/>
          </p:nvSpPr>
          <p:spPr>
            <a:xfrm>
              <a:off x="6299206" y="3059785"/>
              <a:ext cx="2725123" cy="9145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defPPr>
              <a:lvl1pPr marL="171450" indent="-171450">
                <a:buClr>
                  <a:srgbClr val="64748B"/>
                </a:buClr>
                <a:buSzPts val="950"/>
                <a:buFont typeface="Arial" panose="020B0604020202020204" pitchFamily="34" charset="0"/>
                <a:buChar char="•"/>
                <a:defRPr sz="950">
                  <a:solidFill>
                    <a:srgbClr val="64748B"/>
                  </a:solidFill>
                  <a:latin typeface="Calibri"/>
                  <a:cs typeface="Calibri"/>
                </a:defRPr>
              </a:lvl1pPr>
            </a:lstStyle>
            <a:p>
              <a:r>
                <a:rPr lang="pt-BR" noProof="1"/>
                <a:t>2022: corte 8,35  |  2023: corte 8,97 (pico de engajamento geral)  |  2024: corte 8,40;</a:t>
              </a:r>
            </a:p>
            <a:p>
              <a:r>
                <a:rPr lang="pt-BR" noProof="1"/>
                <a:t>Quando todos engajam mais, o bar do PV sobe — é uma régua relativa à turma;</a:t>
              </a:r>
            </a:p>
            <a:p>
              <a:r>
                <a:rPr lang="pt-BR" b="1" noProof="1"/>
                <a:t>Isso limita o crescimento percentual do PV por construção da formula.</a:t>
              </a:r>
              <a:br>
                <a:rPr lang="pt-BR" noProof="1"/>
              </a:br>
              <a:endParaRPr lang="pt-BR" noProof="1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5E9CB514-3411-56FE-6F4E-EF0EB4BDC13A}"/>
              </a:ext>
            </a:extLst>
          </p:cNvPr>
          <p:cNvGrpSpPr/>
          <p:nvPr/>
        </p:nvGrpSpPr>
        <p:grpSpPr>
          <a:xfrm>
            <a:off x="5961393" y="4036973"/>
            <a:ext cx="3108960" cy="1033375"/>
            <a:chOff x="5814175" y="4036972"/>
            <a:chExt cx="3108960" cy="1033375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1FCEE6FF-E99C-CF8F-1604-EAB74636DDFE}"/>
                </a:ext>
              </a:extLst>
            </p:cNvPr>
            <p:cNvGrpSpPr/>
            <p:nvPr/>
          </p:nvGrpSpPr>
          <p:grpSpPr>
            <a:xfrm>
              <a:off x="5814175" y="4036972"/>
              <a:ext cx="3108960" cy="1033375"/>
              <a:chOff x="5806440" y="2542031"/>
              <a:chExt cx="3108960" cy="1033375"/>
            </a:xfrm>
          </p:grpSpPr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36B170EC-00F1-5FBB-642B-C034A64B9F3C}"/>
                  </a:ext>
                </a:extLst>
              </p:cNvPr>
              <p:cNvGrpSpPr/>
              <p:nvPr/>
            </p:nvGrpSpPr>
            <p:grpSpPr>
              <a:xfrm>
                <a:off x="5806440" y="2542031"/>
                <a:ext cx="3108960" cy="1033375"/>
                <a:chOff x="5806440" y="2542031"/>
                <a:chExt cx="3108960" cy="1033375"/>
              </a:xfrm>
            </p:grpSpPr>
            <p:sp>
              <p:nvSpPr>
                <p:cNvPr id="44" name="Google Shape;146;p7">
                  <a:extLst>
                    <a:ext uri="{FF2B5EF4-FFF2-40B4-BE49-F238E27FC236}">
                      <a16:creationId xmlns:a16="http://schemas.microsoft.com/office/drawing/2014/main" id="{8743176A-B360-B529-6A52-C00837DF3759}"/>
                    </a:ext>
                  </a:extLst>
                </p:cNvPr>
                <p:cNvSpPr/>
                <p:nvPr/>
              </p:nvSpPr>
              <p:spPr>
                <a:xfrm>
                  <a:off x="5806440" y="2542031"/>
                  <a:ext cx="3108960" cy="1033375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>
                  <a:solidFill>
                    <a:srgbClr val="E2E8F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pic>
              <p:nvPicPr>
                <p:cNvPr id="46" name="Picture 45">
                  <a:extLst>
                    <a:ext uri="{FF2B5EF4-FFF2-40B4-BE49-F238E27FC236}">
                      <a16:creationId xmlns:a16="http://schemas.microsoft.com/office/drawing/2014/main" id="{2A3374F2-5AE5-AE76-2707-648B244D040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duotone>
                    <a:prstClr val="black"/>
                    <a:schemeClr val="accent5">
                      <a:tint val="45000"/>
                      <a:satMod val="400000"/>
                    </a:schemeClr>
                  </a:duotone>
                </a:blip>
                <a:stretch>
                  <a:fillRect/>
                </a:stretch>
              </p:blipFill>
              <p:spPr>
                <a:xfrm>
                  <a:off x="5875380" y="2633832"/>
                  <a:ext cx="273600" cy="273600"/>
                </a:xfrm>
                <a:prstGeom prst="rect">
                  <a:avLst/>
                </a:prstGeom>
              </p:spPr>
            </p:pic>
          </p:grpSp>
          <p:sp>
            <p:nvSpPr>
              <p:cNvPr id="43" name="Google Shape;235;p10">
                <a:extLst>
                  <a:ext uri="{FF2B5EF4-FFF2-40B4-BE49-F238E27FC236}">
                    <a16:creationId xmlns:a16="http://schemas.microsoft.com/office/drawing/2014/main" id="{CBC13B7C-E0A9-53AE-474C-3EEE579F1DAD}"/>
                  </a:ext>
                </a:extLst>
              </p:cNvPr>
              <p:cNvSpPr/>
              <p:nvPr/>
            </p:nvSpPr>
            <p:spPr>
              <a:xfrm>
                <a:off x="5814829" y="2552499"/>
                <a:ext cx="3092400" cy="45719"/>
              </a:xfrm>
              <a:prstGeom prst="rect">
                <a:avLst/>
              </a:prstGeom>
              <a:solidFill>
                <a:srgbClr val="2E5FA3"/>
              </a:solidFill>
              <a:ln w="12700" cap="flat" cmpd="sng">
                <a:solidFill>
                  <a:srgbClr val="2E5FA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F43DBCE4-E51E-F938-A35F-763500B00F05}"/>
                </a:ext>
              </a:extLst>
            </p:cNvPr>
            <p:cNvSpPr txBox="1"/>
            <p:nvPr/>
          </p:nvSpPr>
          <p:spPr>
            <a:xfrm>
              <a:off x="6160469" y="4155777"/>
              <a:ext cx="2663491" cy="8233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defPPr>
              <a:lvl1pPr marL="171450" indent="-171450">
                <a:buClr>
                  <a:srgbClr val="64748B"/>
                </a:buClr>
                <a:buSzPts val="950"/>
                <a:buFont typeface="Arial" panose="020B0604020202020204" pitchFamily="34" charset="0"/>
                <a:buChar char="•"/>
                <a:defRPr sz="950">
                  <a:solidFill>
                    <a:srgbClr val="64748B"/>
                  </a:solidFill>
                  <a:latin typeface="Calibri"/>
                  <a:cs typeface="Calibri"/>
                </a:defRPr>
              </a:lvl1pPr>
            </a:lstStyle>
            <a:p>
              <a:r>
                <a:rPr lang="pt-BR" noProof="1"/>
                <a:t>Pontos azuis sempre concentrados no canto superior direito — sem exceção;</a:t>
              </a:r>
            </a:p>
            <a:p>
              <a:r>
                <a:rPr lang="pt-BR" noProof="1"/>
                <a:t>PV exige alto IEG e alto IDA juntos — um não substitui o outro;</a:t>
              </a:r>
            </a:p>
            <a:p>
              <a:r>
                <a:rPr lang="pt-BR" b="1" noProof="1"/>
                <a:t>2024 tem a maior IDA mediana (6,8): base acadêmica melhorou</a:t>
              </a:r>
              <a:r>
                <a:rPr lang="pt-BR" noProof="1"/>
                <a:t>.</a:t>
              </a:r>
              <a:br>
                <a:rPr lang="pt-BR" noProof="1"/>
              </a:br>
              <a:endParaRPr lang="pt-BR" noProof="1"/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2A3FD446-8AF3-F63E-4B72-B827337054F4}"/>
              </a:ext>
            </a:extLst>
          </p:cNvPr>
          <p:cNvGrpSpPr/>
          <p:nvPr/>
        </p:nvGrpSpPr>
        <p:grpSpPr>
          <a:xfrm>
            <a:off x="5633884" y="191729"/>
            <a:ext cx="1917290" cy="597310"/>
            <a:chOff x="5633884" y="191729"/>
            <a:chExt cx="1917290" cy="597310"/>
          </a:xfrm>
        </p:grpSpPr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E58A4C8B-88E3-27A6-D676-BEC64AB5AF22}"/>
                </a:ext>
              </a:extLst>
            </p:cNvPr>
            <p:cNvCxnSpPr>
              <a:cxnSpLocks/>
            </p:cNvCxnSpPr>
            <p:nvPr/>
          </p:nvCxnSpPr>
          <p:spPr>
            <a:xfrm>
              <a:off x="5760014" y="459951"/>
              <a:ext cx="246888" cy="329088"/>
            </a:xfrm>
            <a:prstGeom prst="straightConnector1">
              <a:avLst/>
            </a:prstGeom>
            <a:ln>
              <a:solidFill>
                <a:srgbClr val="ED3337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79932BA9-EB44-B7A6-A355-1420600E6425}"/>
                </a:ext>
              </a:extLst>
            </p:cNvPr>
            <p:cNvSpPr/>
            <p:nvPr/>
          </p:nvSpPr>
          <p:spPr>
            <a:xfrm>
              <a:off x="5633884" y="191729"/>
              <a:ext cx="1917290" cy="268222"/>
            </a:xfrm>
            <a:prstGeom prst="rect">
              <a:avLst/>
            </a:prstGeom>
            <a:solidFill>
              <a:srgbClr val="ED0000">
                <a:alpha val="20357"/>
              </a:srgbClr>
            </a:solidFill>
            <a:ln>
              <a:solidFill>
                <a:srgbClr val="ED3337"/>
              </a:solidFill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buClr>
                  <a:srgbClr val="64748B"/>
                </a:buClr>
                <a:buSzPts val="950"/>
              </a:pPr>
              <a:r>
                <a:rPr lang="pt-BR" sz="950" dirty="0">
                  <a:solidFill>
                    <a:schemeClr val="bg1"/>
                  </a:solidFill>
                  <a:latin typeface="Calibri"/>
                  <a:cs typeface="Calibri"/>
                </a:rPr>
                <a:t>Risco crítico: baixo IEG + baixo IDA</a:t>
              </a: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8D2F26AC-9CD7-A9BF-F3E5-CD003B44D321}"/>
              </a:ext>
            </a:extLst>
          </p:cNvPr>
          <p:cNvGrpSpPr/>
          <p:nvPr/>
        </p:nvGrpSpPr>
        <p:grpSpPr>
          <a:xfrm>
            <a:off x="4138665" y="2230030"/>
            <a:ext cx="1991681" cy="1076986"/>
            <a:chOff x="5381150" y="-760764"/>
            <a:chExt cx="1991681" cy="1076986"/>
          </a:xfrm>
        </p:grpSpPr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26C69990-4EE6-9DEE-8156-C255046F94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17764" y="-760764"/>
              <a:ext cx="655067" cy="800335"/>
            </a:xfrm>
            <a:prstGeom prst="straightConnector1">
              <a:avLst/>
            </a:prstGeom>
            <a:ln>
              <a:solidFill>
                <a:srgbClr val="F1593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DB461423-064F-BC0B-26D6-171F3881C489}"/>
                </a:ext>
              </a:extLst>
            </p:cNvPr>
            <p:cNvSpPr/>
            <p:nvPr/>
          </p:nvSpPr>
          <p:spPr>
            <a:xfrm>
              <a:off x="5381150" y="42623"/>
              <a:ext cx="1813376" cy="273599"/>
            </a:xfrm>
            <a:prstGeom prst="rect">
              <a:avLst/>
            </a:prstGeom>
            <a:solidFill>
              <a:srgbClr val="F15936">
                <a:alpha val="41961"/>
              </a:srgbClr>
            </a:solidFill>
            <a:ln>
              <a:solidFill>
                <a:srgbClr val="F15936"/>
              </a:solidFill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buClr>
                  <a:srgbClr val="64748B"/>
                </a:buClr>
                <a:buSzPts val="950"/>
              </a:pPr>
              <a:r>
                <a:rPr lang="pt-BR" sz="950" dirty="0">
                  <a:solidFill>
                    <a:schemeClr val="bg1"/>
                  </a:solidFill>
                  <a:latin typeface="Calibri"/>
                  <a:cs typeface="Calibri"/>
                </a:rPr>
                <a:t>Potencial obstáculo: alto IEG + baixo IDA</a:t>
              </a: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208AA1BF-69E3-DC13-C174-F9DC65047FCA}"/>
              </a:ext>
            </a:extLst>
          </p:cNvPr>
          <p:cNvGrpSpPr/>
          <p:nvPr/>
        </p:nvGrpSpPr>
        <p:grpSpPr>
          <a:xfrm>
            <a:off x="4129313" y="3459215"/>
            <a:ext cx="2001033" cy="543086"/>
            <a:chOff x="5371798" y="-760764"/>
            <a:chExt cx="2001033" cy="543086"/>
          </a:xfrm>
        </p:grpSpPr>
        <p:cxnSp>
          <p:nvCxnSpPr>
            <p:cNvPr id="128" name="Straight Arrow Connector 127">
              <a:extLst>
                <a:ext uri="{FF2B5EF4-FFF2-40B4-BE49-F238E27FC236}">
                  <a16:creationId xmlns:a16="http://schemas.microsoft.com/office/drawing/2014/main" id="{414A5E67-EA1A-8684-DF6C-87D55F4EA1D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67717" y="-760764"/>
              <a:ext cx="305114" cy="269487"/>
            </a:xfrm>
            <a:prstGeom prst="straightConnector1">
              <a:avLst/>
            </a:prstGeom>
            <a:ln>
              <a:solidFill>
                <a:srgbClr val="F1593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83049B46-EA98-DDC3-3ABC-3066417547FC}"/>
                </a:ext>
              </a:extLst>
            </p:cNvPr>
            <p:cNvSpPr/>
            <p:nvPr/>
          </p:nvSpPr>
          <p:spPr>
            <a:xfrm>
              <a:off x="5371798" y="-491277"/>
              <a:ext cx="1813376" cy="273599"/>
            </a:xfrm>
            <a:prstGeom prst="rect">
              <a:avLst/>
            </a:prstGeom>
            <a:solidFill>
              <a:srgbClr val="F15936">
                <a:alpha val="41961"/>
              </a:srgbClr>
            </a:solidFill>
            <a:ln>
              <a:solidFill>
                <a:srgbClr val="F15936"/>
              </a:solidFill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buClr>
                  <a:srgbClr val="64748B"/>
                </a:buClr>
                <a:buSzPts val="950"/>
              </a:pPr>
              <a:r>
                <a:rPr lang="pt-BR" sz="950" dirty="0">
                  <a:solidFill>
                    <a:schemeClr val="bg1"/>
                  </a:solidFill>
                  <a:latin typeface="Calibri"/>
                  <a:cs typeface="Calibri"/>
                </a:rPr>
                <a:t>Nota de corte PV varia a cada ano</a:t>
              </a:r>
            </a:p>
          </p:txBody>
        </p:sp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CA0776E9-B6E7-FFD8-E940-18B9352EDE8B}"/>
              </a:ext>
            </a:extLst>
          </p:cNvPr>
          <p:cNvGrpSpPr/>
          <p:nvPr/>
        </p:nvGrpSpPr>
        <p:grpSpPr>
          <a:xfrm>
            <a:off x="4138665" y="4235529"/>
            <a:ext cx="1979180" cy="448020"/>
            <a:chOff x="5356129" y="-849654"/>
            <a:chExt cx="1979180" cy="448020"/>
          </a:xfrm>
        </p:grpSpPr>
        <p:cxnSp>
          <p:nvCxnSpPr>
            <p:cNvPr id="134" name="Straight Arrow Connector 133">
              <a:extLst>
                <a:ext uri="{FF2B5EF4-FFF2-40B4-BE49-F238E27FC236}">
                  <a16:creationId xmlns:a16="http://schemas.microsoft.com/office/drawing/2014/main" id="{99C19F6C-6D7C-7BBF-651E-96C1A50F09A2}"/>
                </a:ext>
              </a:extLst>
            </p:cNvPr>
            <p:cNvCxnSpPr>
              <a:cxnSpLocks/>
            </p:cNvCxnSpPr>
            <p:nvPr/>
          </p:nvCxnSpPr>
          <p:spPr>
            <a:xfrm>
              <a:off x="6977478" y="-577538"/>
              <a:ext cx="357831" cy="175904"/>
            </a:xfrm>
            <a:prstGeom prst="straightConnector1">
              <a:avLst/>
            </a:prstGeom>
            <a:ln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0DF29433-2CCE-BE42-22DA-90DC27C44F41}"/>
                </a:ext>
              </a:extLst>
            </p:cNvPr>
            <p:cNvSpPr/>
            <p:nvPr/>
          </p:nvSpPr>
          <p:spPr>
            <a:xfrm>
              <a:off x="5356129" y="-849654"/>
              <a:ext cx="1813376" cy="273599"/>
            </a:xfrm>
            <a:prstGeom prst="rect">
              <a:avLst/>
            </a:prstGeom>
            <a:solidFill>
              <a:schemeClr val="accent1">
                <a:lumMod val="75000"/>
                <a:alpha val="41961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buClr>
                  <a:srgbClr val="64748B"/>
                </a:buClr>
                <a:buSzPts val="950"/>
              </a:pPr>
              <a:r>
                <a:rPr lang="pt-BR" sz="950" dirty="0">
                  <a:solidFill>
                    <a:schemeClr val="bg1"/>
                  </a:solidFill>
                  <a:latin typeface="Calibri"/>
                  <a:cs typeface="Calibri"/>
                </a:rPr>
                <a:t>Nota de corte PV varia a cada ano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Shape 217">
          <a:extLst>
            <a:ext uri="{FF2B5EF4-FFF2-40B4-BE49-F238E27FC236}">
              <a16:creationId xmlns:a16="http://schemas.microsoft.com/office/drawing/2014/main" id="{034F9327-5830-86DD-C3F3-5DCB985D3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0">
            <a:extLst>
              <a:ext uri="{FF2B5EF4-FFF2-40B4-BE49-F238E27FC236}">
                <a16:creationId xmlns:a16="http://schemas.microsoft.com/office/drawing/2014/main" id="{C58CDCF6-AB84-3ED9-6B92-441D4B8E2565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 w="12700" cap="flat" cmpd="sng">
            <a:solidFill>
              <a:srgbClr val="1B3A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10">
            <a:extLst>
              <a:ext uri="{FF2B5EF4-FFF2-40B4-BE49-F238E27FC236}">
                <a16:creationId xmlns:a16="http://schemas.microsoft.com/office/drawing/2014/main" id="{44BF4C37-0929-F056-FEC1-22FE666B885F}"/>
              </a:ext>
            </a:extLst>
          </p:cNvPr>
          <p:cNvSpPr/>
          <p:nvPr/>
        </p:nvSpPr>
        <p:spPr>
          <a:xfrm>
            <a:off x="320040" y="73152"/>
            <a:ext cx="85039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Aba 2 — Motor do Desempenho  |  Autopercepção vs. Realidade &amp; Suporte Psicopedagógico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4C5D250-2D06-9787-484D-5E5DC7B128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2857" y="2792756"/>
            <a:ext cx="2412960" cy="227759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AD5E9B7-784F-C268-13B9-20CA2BBA75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1608" y="723290"/>
            <a:ext cx="2123929" cy="199044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23204C7-B0F4-9442-34EA-4B39B93F9E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275" y="723290"/>
            <a:ext cx="2785061" cy="1990442"/>
          </a:xfrm>
          <a:prstGeom prst="rect">
            <a:avLst/>
          </a:prstGeom>
        </p:spPr>
      </p:pic>
      <p:sp>
        <p:nvSpPr>
          <p:cNvPr id="5" name="Google Shape;145;p7">
            <a:extLst>
              <a:ext uri="{FF2B5EF4-FFF2-40B4-BE49-F238E27FC236}">
                <a16:creationId xmlns:a16="http://schemas.microsoft.com/office/drawing/2014/main" id="{33410366-13E2-6397-B1D7-CA3F2C094486}"/>
              </a:ext>
            </a:extLst>
          </p:cNvPr>
          <p:cNvSpPr/>
          <p:nvPr/>
        </p:nvSpPr>
        <p:spPr>
          <a:xfrm>
            <a:off x="830582" y="2290721"/>
            <a:ext cx="1360443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pt-PT" sz="950" b="1" i="0" u="none" strike="noStrike" cap="none" noProof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Sem dados.</a:t>
            </a:r>
            <a:endParaRPr lang="pt-PT" sz="950" b="1" i="0" u="none" strike="noStrike" cap="none" noProof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D6A045-C553-C7D6-E900-DE9E41568E58}"/>
              </a:ext>
            </a:extLst>
          </p:cNvPr>
          <p:cNvSpPr txBox="1"/>
          <p:nvPr/>
        </p:nvSpPr>
        <p:spPr>
          <a:xfrm>
            <a:off x="1293437" y="502920"/>
            <a:ext cx="434734" cy="238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buClr>
                <a:srgbClr val="64748B"/>
              </a:buClr>
              <a:buSzPts val="950"/>
              <a:buFont typeface="Calibri"/>
              <a:buNone/>
              <a:defRPr sz="95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r>
              <a:rPr lang="pt-BR" sz="1100" b="1" dirty="0"/>
              <a:t>2022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046B49-60E7-7659-3675-399DD93E6CAB}"/>
              </a:ext>
            </a:extLst>
          </p:cNvPr>
          <p:cNvSpPr txBox="1"/>
          <p:nvPr/>
        </p:nvSpPr>
        <p:spPr>
          <a:xfrm>
            <a:off x="3935817" y="4831820"/>
            <a:ext cx="434734" cy="238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>
              <a:buClr>
                <a:srgbClr val="64748B"/>
              </a:buClr>
              <a:buSzPts val="950"/>
              <a:buFont typeface="Calibri"/>
              <a:buNone/>
              <a:defRPr sz="95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r>
              <a:rPr lang="pt-BR" sz="1100" b="1" dirty="0"/>
              <a:t>2024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2762B7-A7EC-AECA-6C4E-A12AFE4FA158}"/>
              </a:ext>
            </a:extLst>
          </p:cNvPr>
          <p:cNvSpPr txBox="1"/>
          <p:nvPr/>
        </p:nvSpPr>
        <p:spPr>
          <a:xfrm>
            <a:off x="3866205" y="502920"/>
            <a:ext cx="434734" cy="238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buClr>
                <a:srgbClr val="64748B"/>
              </a:buClr>
              <a:buSzPts val="950"/>
              <a:buFont typeface="Calibri"/>
              <a:buNone/>
              <a:defRPr sz="95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r>
              <a:rPr lang="pt-BR" sz="1100" b="1" dirty="0"/>
              <a:t>2023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EA75A18-9D21-0FE3-6F64-4D2D74355D13}"/>
              </a:ext>
            </a:extLst>
          </p:cNvPr>
          <p:cNvGrpSpPr/>
          <p:nvPr/>
        </p:nvGrpSpPr>
        <p:grpSpPr>
          <a:xfrm>
            <a:off x="5375124" y="576071"/>
            <a:ext cx="3650601" cy="1463068"/>
            <a:chOff x="5375124" y="576071"/>
            <a:chExt cx="3650601" cy="1463068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7A0F9B53-1F9F-BDBB-057E-8A009A13B119}"/>
                </a:ext>
              </a:extLst>
            </p:cNvPr>
            <p:cNvGrpSpPr/>
            <p:nvPr/>
          </p:nvGrpSpPr>
          <p:grpSpPr>
            <a:xfrm>
              <a:off x="5375124" y="576071"/>
              <a:ext cx="3650601" cy="1259753"/>
              <a:chOff x="5806440" y="2542031"/>
              <a:chExt cx="3108960" cy="961213"/>
            </a:xfrm>
          </p:grpSpPr>
          <p:sp>
            <p:nvSpPr>
              <p:cNvPr id="14" name="Google Shape;146;p7">
                <a:extLst>
                  <a:ext uri="{FF2B5EF4-FFF2-40B4-BE49-F238E27FC236}">
                    <a16:creationId xmlns:a16="http://schemas.microsoft.com/office/drawing/2014/main" id="{3CF98F65-9FDA-83D2-9DB9-7ED6555A6807}"/>
                  </a:ext>
                </a:extLst>
              </p:cNvPr>
              <p:cNvSpPr/>
              <p:nvPr/>
            </p:nvSpPr>
            <p:spPr>
              <a:xfrm>
                <a:off x="5806440" y="2542031"/>
                <a:ext cx="3108960" cy="961213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235;p10">
                <a:extLst>
                  <a:ext uri="{FF2B5EF4-FFF2-40B4-BE49-F238E27FC236}">
                    <a16:creationId xmlns:a16="http://schemas.microsoft.com/office/drawing/2014/main" id="{5F933D60-4FF2-691B-FACA-C0DA46E35323}"/>
                  </a:ext>
                </a:extLst>
              </p:cNvPr>
              <p:cNvSpPr/>
              <p:nvPr/>
            </p:nvSpPr>
            <p:spPr>
              <a:xfrm>
                <a:off x="5814829" y="2552499"/>
                <a:ext cx="3092400" cy="45719"/>
              </a:xfrm>
              <a:prstGeom prst="rect">
                <a:avLst/>
              </a:prstGeom>
              <a:solidFill>
                <a:srgbClr val="2E5FA3"/>
              </a:solidFill>
              <a:ln w="12700" cap="flat" cmpd="sng">
                <a:solidFill>
                  <a:srgbClr val="2E5FA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" name="Text 20">
              <a:extLst>
                <a:ext uri="{FF2B5EF4-FFF2-40B4-BE49-F238E27FC236}">
                  <a16:creationId xmlns:a16="http://schemas.microsoft.com/office/drawing/2014/main" id="{8D502C5B-BD91-0FF6-94C8-5CD96B9C8F67}"/>
                </a:ext>
              </a:extLst>
            </p:cNvPr>
            <p:cNvSpPr/>
            <p:nvPr/>
          </p:nvSpPr>
          <p:spPr>
            <a:xfrm>
              <a:off x="5869687" y="947106"/>
              <a:ext cx="2911889" cy="10920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171450" indent="-171450">
                <a:buClr>
                  <a:srgbClr val="64748B"/>
                </a:buClr>
                <a:buSzPts val="950"/>
                <a:buFont typeface="Arial" panose="020B0604020202020204" pitchFamily="34" charset="0"/>
                <a:buChar char="•"/>
              </a:pPr>
              <a:r>
                <a:rPr lang="pt-BR" sz="950" noProof="1">
                  <a:solidFill>
                    <a:srgbClr val="64748B"/>
                  </a:solidFill>
                  <a:latin typeface="Calibri"/>
                  <a:cs typeface="Calibri"/>
                </a:rPr>
                <a:t>Todos os grupos, exceto Estrelas, têm IAA sistematicamente maior que IDA;</a:t>
              </a:r>
            </a:p>
            <a:p>
              <a:pPr marL="171450" indent="-171450">
                <a:buClr>
                  <a:srgbClr val="64748B"/>
                </a:buClr>
                <a:buSzPts val="950"/>
                <a:buFont typeface="Arial" panose="020B0604020202020204" pitchFamily="34" charset="0"/>
                <a:buChar char="•"/>
              </a:pPr>
              <a:r>
                <a:rPr lang="pt-BR" sz="950" noProof="1">
                  <a:solidFill>
                    <a:srgbClr val="64748B"/>
                  </a:solidFill>
                  <a:latin typeface="Calibri"/>
                  <a:cs typeface="Calibri"/>
                </a:rPr>
                <a:t>O gap dos Desfocados é estrutural — não foi reduzido em nenhum dos 3 ciclos avaliados;</a:t>
              </a:r>
            </a:p>
            <a:p>
              <a:pPr marL="171450" indent="-171450">
                <a:buClr>
                  <a:srgbClr val="64748B"/>
                </a:buClr>
                <a:buSzPts val="950"/>
                <a:buFont typeface="Arial" panose="020B0604020202020204" pitchFamily="34" charset="0"/>
                <a:buChar char="•"/>
              </a:pPr>
              <a:r>
                <a:rPr lang="pt-BR" sz="950" b="1" noProof="1">
                  <a:solidFill>
                    <a:srgbClr val="64748B"/>
                  </a:solidFill>
                  <a:latin typeface="Calibri"/>
                  <a:cs typeface="Calibri"/>
                </a:rPr>
                <a:t>Ação: devolutiva individualizada — o aluno precisa confrontar o dado real.</a:t>
              </a:r>
            </a:p>
          </p:txBody>
        </p:sp>
        <p:sp>
          <p:nvSpPr>
            <p:cNvPr id="17" name="Text 4">
              <a:extLst>
                <a:ext uri="{FF2B5EF4-FFF2-40B4-BE49-F238E27FC236}">
                  <a16:creationId xmlns:a16="http://schemas.microsoft.com/office/drawing/2014/main" id="{FBBF8C06-FCD8-4BC3-9163-149D40713A31}"/>
                </a:ext>
              </a:extLst>
            </p:cNvPr>
            <p:cNvSpPr/>
            <p:nvPr/>
          </p:nvSpPr>
          <p:spPr>
            <a:xfrm>
              <a:off x="5869687" y="670166"/>
              <a:ext cx="2187526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pt-BR" sz="1000" b="1" noProof="1">
                  <a:solidFill>
                    <a:srgbClr val="1B3A6B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Q4 — GAP IAA vs. IDA por Perfil</a:t>
              </a:r>
              <a:endParaRPr lang="pt-BR" sz="1000" noProof="1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27AA0BE7-3E58-36BB-FD0B-614BF78E95A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5522292" y="712066"/>
              <a:ext cx="232602" cy="232602"/>
            </a:xfrm>
            <a:prstGeom prst="rect">
              <a:avLst/>
            </a:prstGeom>
          </p:spPr>
        </p:pic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5D5DD727-8D5A-F813-A1FC-C83E38887515}"/>
              </a:ext>
            </a:extLst>
          </p:cNvPr>
          <p:cNvGrpSpPr/>
          <p:nvPr/>
        </p:nvGrpSpPr>
        <p:grpSpPr>
          <a:xfrm>
            <a:off x="5375124" y="1908975"/>
            <a:ext cx="3650601" cy="1277098"/>
            <a:chOff x="5375124" y="2039138"/>
            <a:chExt cx="3650601" cy="1277098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39428544-E504-4187-B4FB-9E094BC4B19D}"/>
                </a:ext>
              </a:extLst>
            </p:cNvPr>
            <p:cNvGrpSpPr/>
            <p:nvPr/>
          </p:nvGrpSpPr>
          <p:grpSpPr>
            <a:xfrm>
              <a:off x="5375124" y="2039138"/>
              <a:ext cx="3650601" cy="1259753"/>
              <a:chOff x="5375124" y="576071"/>
              <a:chExt cx="3650601" cy="1259753"/>
            </a:xfrm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C91C3498-731E-14D2-C236-52DE162CBBA7}"/>
                  </a:ext>
                </a:extLst>
              </p:cNvPr>
              <p:cNvGrpSpPr/>
              <p:nvPr/>
            </p:nvGrpSpPr>
            <p:grpSpPr>
              <a:xfrm>
                <a:off x="5375124" y="576071"/>
                <a:ext cx="3650601" cy="1259753"/>
                <a:chOff x="5806440" y="2542031"/>
                <a:chExt cx="3108960" cy="961213"/>
              </a:xfrm>
            </p:grpSpPr>
            <p:sp>
              <p:nvSpPr>
                <p:cNvPr id="28" name="Google Shape;146;p7">
                  <a:extLst>
                    <a:ext uri="{FF2B5EF4-FFF2-40B4-BE49-F238E27FC236}">
                      <a16:creationId xmlns:a16="http://schemas.microsoft.com/office/drawing/2014/main" id="{ED4FC959-D971-36A1-2704-8E9D9DF5E1ED}"/>
                    </a:ext>
                  </a:extLst>
                </p:cNvPr>
                <p:cNvSpPr/>
                <p:nvPr/>
              </p:nvSpPr>
              <p:spPr>
                <a:xfrm>
                  <a:off x="5806440" y="2542031"/>
                  <a:ext cx="3108960" cy="961213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>
                  <a:solidFill>
                    <a:srgbClr val="E2E8F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" name="Google Shape;235;p10">
                  <a:extLst>
                    <a:ext uri="{FF2B5EF4-FFF2-40B4-BE49-F238E27FC236}">
                      <a16:creationId xmlns:a16="http://schemas.microsoft.com/office/drawing/2014/main" id="{4A9DD708-A13F-17C7-04DA-1E47D23131F1}"/>
                    </a:ext>
                  </a:extLst>
                </p:cNvPr>
                <p:cNvSpPr/>
                <p:nvPr/>
              </p:nvSpPr>
              <p:spPr>
                <a:xfrm>
                  <a:off x="5814829" y="2552499"/>
                  <a:ext cx="3092400" cy="45719"/>
                </a:xfrm>
                <a:prstGeom prst="rect">
                  <a:avLst/>
                </a:prstGeom>
                <a:solidFill>
                  <a:srgbClr val="2E5FA3"/>
                </a:solidFill>
                <a:ln w="12700" cap="flat" cmpd="sng">
                  <a:solidFill>
                    <a:srgbClr val="2E5FA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6" name="Text 4">
                <a:extLst>
                  <a:ext uri="{FF2B5EF4-FFF2-40B4-BE49-F238E27FC236}">
                    <a16:creationId xmlns:a16="http://schemas.microsoft.com/office/drawing/2014/main" id="{D9393AAB-A9FD-5250-44BF-20ECE3134870}"/>
                  </a:ext>
                </a:extLst>
              </p:cNvPr>
              <p:cNvSpPr/>
              <p:nvPr/>
            </p:nvSpPr>
            <p:spPr>
              <a:xfrm>
                <a:off x="5869687" y="670166"/>
                <a:ext cx="2187526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pt-BR" sz="1000" b="1" noProof="1">
                    <a:solidFill>
                      <a:srgbClr val="1B3A6B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Q6 — O que o heatmap mostra</a:t>
                </a:r>
                <a:endParaRPr lang="pt-BR" sz="1000" noProof="1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pic>
            <p:nvPicPr>
              <p:cNvPr id="27" name="Picture 26">
                <a:extLst>
                  <a:ext uri="{FF2B5EF4-FFF2-40B4-BE49-F238E27FC236}">
                    <a16:creationId xmlns:a16="http://schemas.microsoft.com/office/drawing/2014/main" id="{BBC0F361-DA74-F87A-302B-24A3C47D49B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>
                <a:off x="5522292" y="712066"/>
                <a:ext cx="232602" cy="232602"/>
              </a:xfrm>
              <a:prstGeom prst="rect">
                <a:avLst/>
              </a:prstGeom>
            </p:spPr>
          </p:pic>
        </p:grpSp>
        <p:sp>
          <p:nvSpPr>
            <p:cNvPr id="30" name="Text 24">
              <a:extLst>
                <a:ext uri="{FF2B5EF4-FFF2-40B4-BE49-F238E27FC236}">
                  <a16:creationId xmlns:a16="http://schemas.microsoft.com/office/drawing/2014/main" id="{93B35D41-7462-1D98-9C43-D3ABD7755836}"/>
                </a:ext>
              </a:extLst>
            </p:cNvPr>
            <p:cNvSpPr/>
            <p:nvPr/>
          </p:nvSpPr>
          <p:spPr>
            <a:xfrm>
              <a:off x="5871045" y="2407735"/>
              <a:ext cx="3154680" cy="9085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171450" indent="-171450">
                <a:buClr>
                  <a:srgbClr val="64748B"/>
                </a:buClr>
                <a:buSzPts val="950"/>
                <a:buFont typeface="Arial" panose="020B0604020202020204" pitchFamily="34" charset="0"/>
                <a:buChar char="•"/>
              </a:pPr>
              <a:r>
                <a:rPr lang="pt-BR" sz="950" noProof="1">
                  <a:solidFill>
                    <a:srgbClr val="64748B"/>
                  </a:solidFill>
                  <a:latin typeface="Calibri"/>
                  <a:cs typeface="Calibri"/>
                </a:rPr>
                <a:t>A célula mais escura é sempre Médio-Alto (7–8) + Defasagem Moderada nos 2 anos com dados;</a:t>
              </a:r>
            </a:p>
            <a:p>
              <a:pPr marL="171450" indent="-171450">
                <a:buClr>
                  <a:srgbClr val="64748B"/>
                </a:buClr>
                <a:buSzPts val="950"/>
                <a:buFont typeface="Arial" panose="020B0604020202020204" pitchFamily="34" charset="0"/>
                <a:buChar char="•"/>
              </a:pPr>
              <a:r>
                <a:rPr lang="pt-BR" sz="950" noProof="1">
                  <a:solidFill>
                    <a:srgbClr val="64748B"/>
                  </a:solidFill>
                  <a:latin typeface="Calibri"/>
                  <a:cs typeface="Calibri"/>
                </a:rPr>
                <a:t>Coluna Severa visível em 2023 — em 2024 ela praticamente desaparece: melhora real;</a:t>
              </a:r>
            </a:p>
            <a:p>
              <a:pPr marL="171450" indent="-171450">
                <a:buClr>
                  <a:srgbClr val="64748B"/>
                </a:buClr>
                <a:buSzPts val="950"/>
                <a:buFont typeface="Arial" panose="020B0604020202020204" pitchFamily="34" charset="0"/>
                <a:buChar char="•"/>
              </a:pPr>
              <a:r>
                <a:rPr lang="pt-BR" sz="950" noProof="1">
                  <a:solidFill>
                    <a:srgbClr val="64748B"/>
                  </a:solidFill>
                  <a:latin typeface="Calibri"/>
                  <a:cs typeface="Calibri"/>
                </a:rPr>
                <a:t>Mesmo com IPP Alto (8–9): centenas ainda em Defasagem Moderada nos 2 anos.</a:t>
              </a:r>
            </a:p>
          </p:txBody>
        </p:sp>
      </p:grpSp>
      <p:sp>
        <p:nvSpPr>
          <p:cNvPr id="32" name="Down Arrow 31">
            <a:extLst>
              <a:ext uri="{FF2B5EF4-FFF2-40B4-BE49-F238E27FC236}">
                <a16:creationId xmlns:a16="http://schemas.microsoft.com/office/drawing/2014/main" id="{B274DF86-81E2-4DF5-2283-066672E30AF4}"/>
              </a:ext>
            </a:extLst>
          </p:cNvPr>
          <p:cNvSpPr/>
          <p:nvPr/>
        </p:nvSpPr>
        <p:spPr>
          <a:xfrm>
            <a:off x="7200424" y="3259394"/>
            <a:ext cx="45719" cy="243348"/>
          </a:xfrm>
          <a:prstGeom prst="downArrow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n>
                <a:solidFill>
                  <a:schemeClr val="accent1">
                    <a:lumMod val="50000"/>
                  </a:schemeClr>
                </a:solidFill>
              </a:ln>
            </a:endParaRP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BCC04EB-0AB3-902E-D6F7-D43221DD9BE9}"/>
              </a:ext>
            </a:extLst>
          </p:cNvPr>
          <p:cNvGrpSpPr/>
          <p:nvPr/>
        </p:nvGrpSpPr>
        <p:grpSpPr>
          <a:xfrm>
            <a:off x="5384975" y="3576065"/>
            <a:ext cx="3650601" cy="1356817"/>
            <a:chOff x="5384975" y="3576065"/>
            <a:chExt cx="3650601" cy="1356817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8BA23972-4E28-2F19-A8C5-80C28D7F7DCF}"/>
                </a:ext>
              </a:extLst>
            </p:cNvPr>
            <p:cNvGrpSpPr/>
            <p:nvPr/>
          </p:nvGrpSpPr>
          <p:grpSpPr>
            <a:xfrm>
              <a:off x="5384975" y="3576065"/>
              <a:ext cx="3650601" cy="1356817"/>
              <a:chOff x="5806440" y="3602737"/>
              <a:chExt cx="3108960" cy="914572"/>
            </a:xfrm>
          </p:grpSpPr>
          <p:sp>
            <p:nvSpPr>
              <p:cNvPr id="38" name="Google Shape;152;p7">
                <a:extLst>
                  <a:ext uri="{FF2B5EF4-FFF2-40B4-BE49-F238E27FC236}">
                    <a16:creationId xmlns:a16="http://schemas.microsoft.com/office/drawing/2014/main" id="{CA524E57-B6F6-2826-7C23-C492AB53B230}"/>
                  </a:ext>
                </a:extLst>
              </p:cNvPr>
              <p:cNvSpPr/>
              <p:nvPr/>
            </p:nvSpPr>
            <p:spPr>
              <a:xfrm>
                <a:off x="5806440" y="3602737"/>
                <a:ext cx="3108960" cy="914572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235;p10">
                <a:extLst>
                  <a:ext uri="{FF2B5EF4-FFF2-40B4-BE49-F238E27FC236}">
                    <a16:creationId xmlns:a16="http://schemas.microsoft.com/office/drawing/2014/main" id="{F21E40A7-80FD-0F61-9D06-976784C73916}"/>
                  </a:ext>
                </a:extLst>
              </p:cNvPr>
              <p:cNvSpPr/>
              <p:nvPr/>
            </p:nvSpPr>
            <p:spPr>
              <a:xfrm>
                <a:off x="5811011" y="3613547"/>
                <a:ext cx="3092400" cy="45719"/>
              </a:xfrm>
              <a:prstGeom prst="rect">
                <a:avLst/>
              </a:prstGeom>
              <a:solidFill>
                <a:srgbClr val="F15936"/>
              </a:solidFill>
              <a:ln w="12700" cap="flat" cmpd="sng">
                <a:solidFill>
                  <a:srgbClr val="F1593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0" name="Text 28">
              <a:extLst>
                <a:ext uri="{FF2B5EF4-FFF2-40B4-BE49-F238E27FC236}">
                  <a16:creationId xmlns:a16="http://schemas.microsoft.com/office/drawing/2014/main" id="{8A80E075-AAD2-85E9-476F-14B3495C15EC}"/>
                </a:ext>
              </a:extLst>
            </p:cNvPr>
            <p:cNvSpPr/>
            <p:nvPr/>
          </p:nvSpPr>
          <p:spPr>
            <a:xfrm>
              <a:off x="5871045" y="3806485"/>
              <a:ext cx="3154680" cy="89597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171450" indent="-171450">
                <a:buClr>
                  <a:srgbClr val="64748B"/>
                </a:buClr>
                <a:buSzPts val="950"/>
                <a:buFont typeface="Arial" panose="020B0604020202020204" pitchFamily="34" charset="0"/>
                <a:buChar char="•"/>
              </a:pPr>
              <a:r>
                <a:rPr lang="pt-PT" sz="950" noProof="1">
                  <a:solidFill>
                    <a:srgbClr val="64748B"/>
                  </a:solidFill>
                  <a:latin typeface="Calibri"/>
                  <a:cs typeface="Calibri"/>
                </a:rPr>
                <a:t>IPP alto não garante adequação de nível — identifica mas não resolve;</a:t>
              </a:r>
            </a:p>
            <a:p>
              <a:pPr marL="171450" indent="-171450">
                <a:buClr>
                  <a:srgbClr val="64748B"/>
                </a:buClr>
                <a:buSzPts val="950"/>
                <a:buFont typeface="Arial" panose="020B0604020202020204" pitchFamily="34" charset="0"/>
                <a:buChar char="•"/>
              </a:pPr>
              <a:r>
                <a:rPr lang="pt-PT" sz="950" noProof="1">
                  <a:solidFill>
                    <a:srgbClr val="64748B"/>
                  </a:solidFill>
                  <a:latin typeface="Calibri"/>
                  <a:cs typeface="Calibri"/>
                </a:rPr>
                <a:t>A célula Médio-Alto + Moderada domina visualmente nos 2 anos — é o maior desafio operacional;</a:t>
              </a:r>
            </a:p>
            <a:p>
              <a:pPr marL="171450" indent="-171450">
                <a:buClr>
                  <a:srgbClr val="64748B"/>
                </a:buClr>
                <a:buSzPts val="950"/>
                <a:buFont typeface="Arial" panose="020B0604020202020204" pitchFamily="34" charset="0"/>
                <a:buChar char="•"/>
              </a:pPr>
              <a:r>
                <a:rPr lang="pt-PT" sz="950" b="1" noProof="1">
                  <a:solidFill>
                    <a:srgbClr val="64748B"/>
                  </a:solidFill>
                  <a:latin typeface="Calibri"/>
                  <a:cs typeface="Calibri"/>
                </a:rPr>
                <a:t>Ação: plano pedagógico pós-diagnóstico para alunos nessa célula.</a:t>
              </a:r>
            </a:p>
          </p:txBody>
        </p:sp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9057E418-0A3A-B291-DF29-C99F9175E1A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501793" y="3755600"/>
              <a:ext cx="273600" cy="273600"/>
            </a:xfrm>
            <a:prstGeom prst="rect">
              <a:avLst/>
            </a:prstGeom>
          </p:spPr>
        </p:pic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1C94C6A3-9F55-63CC-6D7E-79D30FB32FE6}"/>
              </a:ext>
            </a:extLst>
          </p:cNvPr>
          <p:cNvGrpSpPr/>
          <p:nvPr/>
        </p:nvGrpSpPr>
        <p:grpSpPr>
          <a:xfrm>
            <a:off x="4044115" y="3655186"/>
            <a:ext cx="1710779" cy="1025996"/>
            <a:chOff x="4044115" y="3655186"/>
            <a:chExt cx="1710779" cy="1025996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AF52627A-57E0-2C70-A29C-887BBAD388F7}"/>
                </a:ext>
              </a:extLst>
            </p:cNvPr>
            <p:cNvGrpSpPr/>
            <p:nvPr/>
          </p:nvGrpSpPr>
          <p:grpSpPr>
            <a:xfrm>
              <a:off x="4044115" y="3659929"/>
              <a:ext cx="1710779" cy="1021253"/>
              <a:chOff x="5476794" y="-365557"/>
              <a:chExt cx="1710779" cy="1021253"/>
            </a:xfrm>
          </p:grpSpPr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596BF066-8002-D7AF-9ADE-1B8A439AE7A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719416" y="142698"/>
                <a:ext cx="468157" cy="321982"/>
              </a:xfrm>
              <a:prstGeom prst="straightConnector1">
                <a:avLst/>
              </a:prstGeom>
              <a:ln>
                <a:solidFill>
                  <a:srgbClr val="F1593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48083B6E-E21E-C7F3-202A-8FF8C8CC1D03}"/>
                  </a:ext>
                </a:extLst>
              </p:cNvPr>
              <p:cNvSpPr/>
              <p:nvPr/>
            </p:nvSpPr>
            <p:spPr>
              <a:xfrm>
                <a:off x="5476794" y="-365557"/>
                <a:ext cx="1242622" cy="1021253"/>
              </a:xfrm>
              <a:prstGeom prst="rect">
                <a:avLst/>
              </a:prstGeom>
              <a:solidFill>
                <a:srgbClr val="F15936">
                  <a:alpha val="41961"/>
                </a:srgbClr>
              </a:solidFill>
              <a:ln>
                <a:solidFill>
                  <a:srgbClr val="F15936"/>
                </a:solidFill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algn="ctr">
                  <a:buClr>
                    <a:srgbClr val="64748B"/>
                  </a:buClr>
                  <a:buSzPts val="950"/>
                </a:pPr>
                <a:endParaRPr lang="pt-BR" sz="950" dirty="0">
                  <a:solidFill>
                    <a:schemeClr val="bg1"/>
                  </a:solidFill>
                  <a:latin typeface="Calibri"/>
                  <a:cs typeface="Calibri"/>
                </a:endParaRPr>
              </a:p>
            </p:txBody>
          </p:sp>
        </p:grpSp>
        <p:sp>
          <p:nvSpPr>
            <p:cNvPr id="48" name="Text 32">
              <a:extLst>
                <a:ext uri="{FF2B5EF4-FFF2-40B4-BE49-F238E27FC236}">
                  <a16:creationId xmlns:a16="http://schemas.microsoft.com/office/drawing/2014/main" id="{BCC604F3-002B-A77F-8118-2F3EBCFFCC6B}"/>
                </a:ext>
              </a:extLst>
            </p:cNvPr>
            <p:cNvSpPr/>
            <p:nvPr/>
          </p:nvSpPr>
          <p:spPr>
            <a:xfrm>
              <a:off x="4127787" y="3655186"/>
              <a:ext cx="1166903" cy="10259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buSzPct val="100000"/>
              </a:pPr>
              <a:r>
                <a:rPr lang="pt-PT" sz="800" noProof="1">
                  <a:solidFill>
                    <a:srgbClr val="64748B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IPP avalia mas não resolve — </a:t>
              </a:r>
              <a:r>
                <a:rPr lang="pt-PT" sz="800" b="1" noProof="1">
                  <a:solidFill>
                    <a:srgbClr val="64748B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 diagnóstico precisa gerar um plano de ação pedagógica</a:t>
              </a:r>
              <a:r>
                <a:rPr lang="pt-PT" sz="800" noProof="1">
                  <a:solidFill>
                    <a:srgbClr val="64748B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;</a:t>
              </a:r>
              <a:endParaRPr lang="pt-PT" sz="800" noProof="1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54852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344"/>
        </a:solidFill>
        <a:effectLst/>
      </p:bgPr>
    </p:bg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D3337"/>
          </a:solidFill>
          <a:ln w="12700" cap="flat" cmpd="sng">
            <a:solidFill>
              <a:srgbClr val="ED333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11"/>
          <p:cNvSpPr/>
          <p:nvPr/>
        </p:nvSpPr>
        <p:spPr>
          <a:xfrm>
            <a:off x="73152" y="0"/>
            <a:ext cx="9070848" cy="5143500"/>
          </a:xfrm>
          <a:prstGeom prst="rect">
            <a:avLst/>
          </a:prstGeom>
          <a:solidFill>
            <a:srgbClr val="0F2344"/>
          </a:solidFill>
          <a:ln w="12700" cap="flat" cmpd="sng">
            <a:solidFill>
              <a:srgbClr val="0F23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11"/>
          <p:cNvSpPr/>
          <p:nvPr/>
        </p:nvSpPr>
        <p:spPr>
          <a:xfrm>
            <a:off x="914400" y="1463040"/>
            <a:ext cx="109728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06C1A"/>
              </a:buClr>
              <a:buSzPts val="6400"/>
              <a:buFont typeface="Calibri"/>
              <a:buNone/>
            </a:pPr>
            <a:r>
              <a:rPr lang="en-US" sz="6400" b="1" i="0" u="none" strike="noStrike" cap="none" dirty="0">
                <a:solidFill>
                  <a:srgbClr val="ED3337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6400" b="0" i="0" u="none" strike="noStrike" cap="none" dirty="0">
              <a:solidFill>
                <a:srgbClr val="ED33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1"/>
          <p:cNvSpPr/>
          <p:nvPr/>
        </p:nvSpPr>
        <p:spPr>
          <a:xfrm>
            <a:off x="2194560" y="1737360"/>
            <a:ext cx="65836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Antecipando o Risco e a Virada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1"/>
          <p:cNvSpPr/>
          <p:nvPr/>
        </p:nvSpPr>
        <p:spPr>
          <a:xfrm>
            <a:off x="2194560" y="2514600"/>
            <a:ext cx="6583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6E4F7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D6E4F7"/>
                </a:solidFill>
                <a:latin typeface="Calibri"/>
                <a:ea typeface="Calibri"/>
                <a:cs typeface="Calibri"/>
                <a:sym typeface="Calibri"/>
              </a:rPr>
              <a:t>Q5 · Psicossocial (IPS)   |   Q7 · Ponto de Virada (IPV)   |   Q8 · Multidimensionalidade (INDE)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2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 w="12700" cap="flat" cmpd="sng">
            <a:solidFill>
              <a:srgbClr val="1B3A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2"/>
          <p:cNvSpPr/>
          <p:nvPr/>
        </p:nvSpPr>
        <p:spPr>
          <a:xfrm>
            <a:off x="320040" y="73152"/>
            <a:ext cx="85039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FFFFFF"/>
              </a:buClr>
              <a:buSzPts val="1300"/>
            </a:pPr>
            <a:r>
              <a:rPr lang="pt-BR" sz="1300" b="1" i="0" u="none" strike="noStrike" cap="none" noProof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Aba 3 — Riscos &amp; Virada  | </a:t>
            </a:r>
            <a:r>
              <a:rPr lang="pt-BR" sz="1300" b="1" noProof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 Que Define o Ponto de Virada &amp; Psicossocial </a:t>
            </a:r>
            <a:endParaRPr lang="pt-BR" sz="1300" b="0" i="0" u="none" strike="noStrike" cap="none" noProof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A7955FC-0EC2-E4EF-DCF1-6518F2D50C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067" y="904877"/>
            <a:ext cx="4033037" cy="3673334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6708724-0054-5C79-7F3C-AE848721B9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787566"/>
              </p:ext>
            </p:extLst>
          </p:nvPr>
        </p:nvGraphicFramePr>
        <p:xfrm>
          <a:off x="4739149" y="662693"/>
          <a:ext cx="4226640" cy="786580"/>
        </p:xfrm>
        <a:graphic>
          <a:graphicData uri="http://schemas.openxmlformats.org/drawingml/2006/table">
            <a:tbl>
              <a:tblPr>
                <a:tableStyleId>{2A488322-F2BA-4B5B-9748-0D474271808F}</a:tableStyleId>
              </a:tblPr>
              <a:tblGrid>
                <a:gridCol w="704440">
                  <a:extLst>
                    <a:ext uri="{9D8B030D-6E8A-4147-A177-3AD203B41FA5}">
                      <a16:colId xmlns:a16="http://schemas.microsoft.com/office/drawing/2014/main" val="3534828365"/>
                    </a:ext>
                  </a:extLst>
                </a:gridCol>
                <a:gridCol w="704440">
                  <a:extLst>
                    <a:ext uri="{9D8B030D-6E8A-4147-A177-3AD203B41FA5}">
                      <a16:colId xmlns:a16="http://schemas.microsoft.com/office/drawing/2014/main" val="2307381228"/>
                    </a:ext>
                  </a:extLst>
                </a:gridCol>
                <a:gridCol w="704440">
                  <a:extLst>
                    <a:ext uri="{9D8B030D-6E8A-4147-A177-3AD203B41FA5}">
                      <a16:colId xmlns:a16="http://schemas.microsoft.com/office/drawing/2014/main" val="2417358396"/>
                    </a:ext>
                  </a:extLst>
                </a:gridCol>
                <a:gridCol w="704440">
                  <a:extLst>
                    <a:ext uri="{9D8B030D-6E8A-4147-A177-3AD203B41FA5}">
                      <a16:colId xmlns:a16="http://schemas.microsoft.com/office/drawing/2014/main" val="1973608860"/>
                    </a:ext>
                  </a:extLst>
                </a:gridCol>
                <a:gridCol w="704440">
                  <a:extLst>
                    <a:ext uri="{9D8B030D-6E8A-4147-A177-3AD203B41FA5}">
                      <a16:colId xmlns:a16="http://schemas.microsoft.com/office/drawing/2014/main" val="2541542827"/>
                    </a:ext>
                  </a:extLst>
                </a:gridCol>
                <a:gridCol w="704440">
                  <a:extLst>
                    <a:ext uri="{9D8B030D-6E8A-4147-A177-3AD203B41FA5}">
                      <a16:colId xmlns:a16="http://schemas.microsoft.com/office/drawing/2014/main" val="3556440604"/>
                    </a:ext>
                  </a:extLst>
                </a:gridCol>
              </a:tblGrid>
              <a:tr h="19664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Ano</a:t>
                      </a:r>
                      <a:endParaRPr lang="en-US" sz="12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1º</a:t>
                      </a:r>
                      <a:endParaRPr lang="en-US" sz="12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2º</a:t>
                      </a:r>
                      <a:endParaRPr lang="en-US" sz="12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3º</a:t>
                      </a:r>
                      <a:endParaRPr lang="en-US" sz="12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4º</a:t>
                      </a:r>
                      <a:endParaRPr lang="en-US" sz="12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5º</a:t>
                      </a:r>
                      <a:endParaRPr lang="en-US" sz="12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2461867"/>
                  </a:ext>
                </a:extLst>
              </a:tr>
              <a:tr h="19664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BR" sz="12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2022</a:t>
                      </a:r>
                      <a:endParaRPr lang="en-BR" sz="12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IDA</a:t>
                      </a:r>
                      <a:endParaRPr lang="en-US" sz="12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IEG</a:t>
                      </a:r>
                      <a:endParaRPr lang="en-US" sz="12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IAA</a:t>
                      </a:r>
                      <a:endParaRPr lang="en-US" sz="12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IPS</a:t>
                      </a:r>
                      <a:endParaRPr lang="en-US" sz="12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IAN</a:t>
                      </a:r>
                      <a:endParaRPr lang="en-US" sz="12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2504919"/>
                  </a:ext>
                </a:extLst>
              </a:tr>
              <a:tr h="19664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BR" sz="120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2023</a:t>
                      </a:r>
                      <a:endParaRPr lang="en-BR" sz="12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IDA</a:t>
                      </a:r>
                      <a:endParaRPr lang="en-US" sz="12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IEG</a:t>
                      </a:r>
                      <a:endParaRPr lang="en-US" sz="12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IAN</a:t>
                      </a:r>
                      <a:endParaRPr lang="en-US" sz="12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IAA</a:t>
                      </a:r>
                      <a:endParaRPr lang="en-US" sz="12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IPS</a:t>
                      </a:r>
                      <a:endParaRPr lang="en-US" sz="12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8778689"/>
                  </a:ext>
                </a:extLst>
              </a:tr>
              <a:tr h="19664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BR" sz="120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2024</a:t>
                      </a:r>
                      <a:endParaRPr lang="en-BR" sz="12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IEG</a:t>
                      </a:r>
                      <a:endParaRPr lang="en-US" sz="12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IDA</a:t>
                      </a:r>
                      <a:endParaRPr lang="en-US" sz="1200" b="0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IAN</a:t>
                      </a:r>
                      <a:endParaRPr lang="en-US" sz="12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IAA</a:t>
                      </a:r>
                      <a:endParaRPr lang="en-US" sz="12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IPS</a:t>
                      </a:r>
                      <a:endParaRPr lang="en-US" sz="12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982114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740FDDFB-B548-39DD-FBB3-B296FDAFC1D9}"/>
              </a:ext>
            </a:extLst>
          </p:cNvPr>
          <p:cNvSpPr/>
          <p:nvPr/>
        </p:nvSpPr>
        <p:spPr>
          <a:xfrm>
            <a:off x="7779039" y="875070"/>
            <a:ext cx="263748" cy="20647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1F874E7-208C-7DD7-F67A-A05452F31803}"/>
              </a:ext>
            </a:extLst>
          </p:cNvPr>
          <p:cNvSpPr/>
          <p:nvPr/>
        </p:nvSpPr>
        <p:spPr>
          <a:xfrm>
            <a:off x="8482045" y="1093965"/>
            <a:ext cx="263748" cy="35530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188C9C-5656-A400-5A1F-084DAB46124E}"/>
              </a:ext>
            </a:extLst>
          </p:cNvPr>
          <p:cNvSpPr/>
          <p:nvPr/>
        </p:nvSpPr>
        <p:spPr>
          <a:xfrm>
            <a:off x="8482045" y="875069"/>
            <a:ext cx="263748" cy="19616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CB20744-16C6-42AF-16CF-B74A5F26DE5B}"/>
              </a:ext>
            </a:extLst>
          </p:cNvPr>
          <p:cNvSpPr/>
          <p:nvPr/>
        </p:nvSpPr>
        <p:spPr>
          <a:xfrm>
            <a:off x="7066201" y="1071229"/>
            <a:ext cx="263748" cy="378043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708C0DB-6477-D10B-E6D3-02EF9CE09DF7}"/>
              </a:ext>
            </a:extLst>
          </p:cNvPr>
          <p:cNvSpPr/>
          <p:nvPr/>
        </p:nvSpPr>
        <p:spPr>
          <a:xfrm>
            <a:off x="5650357" y="866961"/>
            <a:ext cx="263748" cy="58231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75C9F4E-7E0B-76B9-B1F9-FE368BBF899E}"/>
              </a:ext>
            </a:extLst>
          </p:cNvPr>
          <p:cNvSpPr/>
          <p:nvPr/>
        </p:nvSpPr>
        <p:spPr>
          <a:xfrm>
            <a:off x="6363195" y="882207"/>
            <a:ext cx="263748" cy="378043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4F5143A-058E-B87F-A6B1-75D3F1B66971}"/>
              </a:ext>
            </a:extLst>
          </p:cNvPr>
          <p:cNvCxnSpPr>
            <a:cxnSpLocks/>
          </p:cNvCxnSpPr>
          <p:nvPr/>
        </p:nvCxnSpPr>
        <p:spPr>
          <a:xfrm flipH="1">
            <a:off x="5966218" y="1055983"/>
            <a:ext cx="353961" cy="29496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9ABACE0-2BFA-253A-110C-623D8BE7CD53}"/>
              </a:ext>
            </a:extLst>
          </p:cNvPr>
          <p:cNvCxnSpPr>
            <a:cxnSpLocks/>
          </p:cNvCxnSpPr>
          <p:nvPr/>
        </p:nvCxnSpPr>
        <p:spPr>
          <a:xfrm flipH="1">
            <a:off x="7372965" y="973149"/>
            <a:ext cx="1109080" cy="355309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2CA86FA-62C6-316D-722A-D4502EAE7C04}"/>
              </a:ext>
            </a:extLst>
          </p:cNvPr>
          <p:cNvCxnSpPr>
            <a:cxnSpLocks/>
          </p:cNvCxnSpPr>
          <p:nvPr/>
        </p:nvCxnSpPr>
        <p:spPr>
          <a:xfrm>
            <a:off x="8075236" y="935537"/>
            <a:ext cx="351870" cy="39292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9" name="Group 58">
            <a:extLst>
              <a:ext uri="{FF2B5EF4-FFF2-40B4-BE49-F238E27FC236}">
                <a16:creationId xmlns:a16="http://schemas.microsoft.com/office/drawing/2014/main" id="{26EBA8DA-74CD-DA2E-619B-3AD8174653D0}"/>
              </a:ext>
            </a:extLst>
          </p:cNvPr>
          <p:cNvGrpSpPr/>
          <p:nvPr/>
        </p:nvGrpSpPr>
        <p:grpSpPr>
          <a:xfrm>
            <a:off x="4748980" y="1552022"/>
            <a:ext cx="4226640" cy="738762"/>
            <a:chOff x="4748980" y="1552022"/>
            <a:chExt cx="4226640" cy="738762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34057228-13B4-1F1C-7D79-44B45FFB12C3}"/>
                </a:ext>
              </a:extLst>
            </p:cNvPr>
            <p:cNvGrpSpPr/>
            <p:nvPr/>
          </p:nvGrpSpPr>
          <p:grpSpPr>
            <a:xfrm>
              <a:off x="4748980" y="1552022"/>
              <a:ext cx="4226640" cy="738762"/>
              <a:chOff x="5297269" y="1755789"/>
              <a:chExt cx="3110400" cy="581267"/>
            </a:xfrm>
          </p:grpSpPr>
          <p:sp>
            <p:nvSpPr>
              <p:cNvPr id="27" name="Google Shape;143;p7">
                <a:extLst>
                  <a:ext uri="{FF2B5EF4-FFF2-40B4-BE49-F238E27FC236}">
                    <a16:creationId xmlns:a16="http://schemas.microsoft.com/office/drawing/2014/main" id="{1B7DE228-CE71-070D-7B61-E1BCD02DE479}"/>
                  </a:ext>
                </a:extLst>
              </p:cNvPr>
              <p:cNvSpPr/>
              <p:nvPr/>
            </p:nvSpPr>
            <p:spPr>
              <a:xfrm>
                <a:off x="5297269" y="1755789"/>
                <a:ext cx="3110400" cy="581267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6" name="Google Shape;235;p10">
                <a:extLst>
                  <a:ext uri="{FF2B5EF4-FFF2-40B4-BE49-F238E27FC236}">
                    <a16:creationId xmlns:a16="http://schemas.microsoft.com/office/drawing/2014/main" id="{94574906-4448-3223-13EB-1C0DE7BE50CB}"/>
                  </a:ext>
                </a:extLst>
              </p:cNvPr>
              <p:cNvSpPr/>
              <p:nvPr/>
            </p:nvSpPr>
            <p:spPr>
              <a:xfrm>
                <a:off x="5307208" y="1765566"/>
                <a:ext cx="3090631" cy="45719"/>
              </a:xfrm>
              <a:prstGeom prst="rect">
                <a:avLst/>
              </a:prstGeom>
              <a:solidFill>
                <a:srgbClr val="2E5FA3"/>
              </a:solidFill>
              <a:ln w="12700" cap="flat" cmpd="sng">
                <a:solidFill>
                  <a:srgbClr val="2E5FA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81B8FDDC-2575-A024-E8D1-C2FB0729DA8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accent5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aturation sat="4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833512" y="1761978"/>
              <a:ext cx="318997" cy="318849"/>
            </a:xfrm>
            <a:prstGeom prst="rect">
              <a:avLst/>
            </a:prstGeom>
          </p:spPr>
        </p:pic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4EE6E75E-C628-EE97-DD62-0C51CDA98B28}"/>
                </a:ext>
              </a:extLst>
            </p:cNvPr>
            <p:cNvSpPr txBox="1"/>
            <p:nvPr/>
          </p:nvSpPr>
          <p:spPr>
            <a:xfrm>
              <a:off x="5242945" y="1885439"/>
              <a:ext cx="3590847" cy="3847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defPPr>
              <a:lvl1pPr marL="0" indent="0">
                <a:buClr>
                  <a:srgbClr val="64748B"/>
                </a:buClr>
                <a:buSzPts val="950"/>
                <a:buFont typeface="Calibri"/>
                <a:buNone/>
                <a:defRPr sz="950">
                  <a:solidFill>
                    <a:srgbClr val="64748B"/>
                  </a:solidFill>
                  <a:latin typeface="Calibri"/>
                  <a:ea typeface="Calibri"/>
                  <a:cs typeface="Calibri"/>
                </a:defRPr>
              </a:lvl1pPr>
            </a:lstStyle>
            <a:p>
              <a:r>
                <a:rPr lang="pt-BR" noProof="1"/>
                <a:t>Adequação ao nível ganhou peso no PV. Alunos que saíram da defasagem passaram a ter mais condições de se destacar.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B21AD743-4B73-566E-74F2-BA27D65903BB}"/>
                </a:ext>
              </a:extLst>
            </p:cNvPr>
            <p:cNvSpPr txBox="1"/>
            <p:nvPr/>
          </p:nvSpPr>
          <p:spPr>
            <a:xfrm>
              <a:off x="5239993" y="1660276"/>
              <a:ext cx="2089956" cy="24622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0" indent="0">
                <a:buNone/>
                <a:defRPr sz="1000" b="1">
                  <a:solidFill>
                    <a:srgbClr val="1B3A6B"/>
                  </a:solidFill>
                  <a:latin typeface="Calibri" panose="020F0502020204030204" pitchFamily="34" charset="0"/>
                  <a:cs typeface="Calibri" panose="020F0502020204030204" pitchFamily="34" charset="0"/>
                </a:defRPr>
              </a:lvl1pPr>
            </a:lstStyle>
            <a:p>
              <a:r>
                <a:rPr lang="pt-BR" noProof="1"/>
                <a:t>IAN saltou de último para 3º em 2023</a:t>
              </a:r>
            </a:p>
          </p:txBody>
        </p:sp>
      </p:grp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0588BA83-326E-B20A-CE60-0AD5A2F2BB2D}"/>
              </a:ext>
            </a:extLst>
          </p:cNvPr>
          <p:cNvGrpSpPr/>
          <p:nvPr/>
        </p:nvGrpSpPr>
        <p:grpSpPr>
          <a:xfrm>
            <a:off x="4748980" y="2377559"/>
            <a:ext cx="4226640" cy="928525"/>
            <a:chOff x="4748980" y="2377559"/>
            <a:chExt cx="4226640" cy="928525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25478D03-860E-CAF3-55E2-D9DF294348E6}"/>
                </a:ext>
              </a:extLst>
            </p:cNvPr>
            <p:cNvGrpSpPr/>
            <p:nvPr/>
          </p:nvGrpSpPr>
          <p:grpSpPr>
            <a:xfrm>
              <a:off x="4748980" y="2377559"/>
              <a:ext cx="4226640" cy="928525"/>
              <a:chOff x="4731652" y="2473540"/>
              <a:chExt cx="3108960" cy="730575"/>
            </a:xfrm>
          </p:grpSpPr>
          <p:sp>
            <p:nvSpPr>
              <p:cNvPr id="36" name="Google Shape;152;p7">
                <a:extLst>
                  <a:ext uri="{FF2B5EF4-FFF2-40B4-BE49-F238E27FC236}">
                    <a16:creationId xmlns:a16="http://schemas.microsoft.com/office/drawing/2014/main" id="{8F418F66-7848-58DF-DDD9-75A4ACE5385E}"/>
                  </a:ext>
                </a:extLst>
              </p:cNvPr>
              <p:cNvSpPr/>
              <p:nvPr/>
            </p:nvSpPr>
            <p:spPr>
              <a:xfrm>
                <a:off x="4731652" y="2473540"/>
                <a:ext cx="3108960" cy="730575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235;p10">
                <a:extLst>
                  <a:ext uri="{FF2B5EF4-FFF2-40B4-BE49-F238E27FC236}">
                    <a16:creationId xmlns:a16="http://schemas.microsoft.com/office/drawing/2014/main" id="{B49629CD-61FF-FA9B-326F-C60DCA9B949D}"/>
                  </a:ext>
                </a:extLst>
              </p:cNvPr>
              <p:cNvSpPr/>
              <p:nvPr/>
            </p:nvSpPr>
            <p:spPr>
              <a:xfrm>
                <a:off x="4736221" y="2484351"/>
                <a:ext cx="3098192" cy="45719"/>
              </a:xfrm>
              <a:prstGeom prst="rect">
                <a:avLst/>
              </a:prstGeom>
              <a:solidFill>
                <a:srgbClr val="F15936"/>
              </a:solidFill>
              <a:ln w="12700" cap="flat" cmpd="sng">
                <a:solidFill>
                  <a:srgbClr val="F1593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8CB003E1-2499-8472-C6AE-1215708BC84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798815" y="2647626"/>
              <a:ext cx="388390" cy="388390"/>
            </a:xfrm>
            <a:prstGeom prst="rect">
              <a:avLst/>
            </a:prstGeom>
          </p:spPr>
        </p:pic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7C1D4CD1-FFD7-95BD-7963-C456F10B1D8D}"/>
                </a:ext>
              </a:extLst>
            </p:cNvPr>
            <p:cNvSpPr txBox="1"/>
            <p:nvPr/>
          </p:nvSpPr>
          <p:spPr>
            <a:xfrm>
              <a:off x="5226299" y="2796047"/>
              <a:ext cx="3519494" cy="3847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defPPr>
              <a:lvl1pPr marL="0" indent="0">
                <a:buClr>
                  <a:srgbClr val="64748B"/>
                </a:buClr>
                <a:buSzPts val="950"/>
                <a:buFont typeface="Calibri"/>
                <a:buNone/>
                <a:defRPr sz="950">
                  <a:solidFill>
                    <a:srgbClr val="64748B"/>
                  </a:solidFill>
                  <a:latin typeface="Calibri"/>
                  <a:ea typeface="Calibri"/>
                  <a:cs typeface="Calibri"/>
                </a:defRPr>
              </a:lvl1pPr>
            </a:lstStyle>
            <a:p>
              <a:r>
                <a:rPr lang="pt-BR" noProof="1"/>
                <a:t>Engajamento ultrapassou o IDA. A banca pode estar valorizando mais atitude e presença do que nota — mudança de critério que merece atenção.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889219F4-6540-5B3D-2263-8A00A68D92A8}"/>
                </a:ext>
              </a:extLst>
            </p:cNvPr>
            <p:cNvSpPr txBox="1"/>
            <p:nvPr/>
          </p:nvSpPr>
          <p:spPr>
            <a:xfrm>
              <a:off x="5237040" y="2495323"/>
              <a:ext cx="2066895" cy="24622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defPPr>
              <a:lvl1pPr marL="0" indent="0">
                <a:buNone/>
                <a:defRPr sz="1000" b="1">
                  <a:solidFill>
                    <a:srgbClr val="1B3A6B"/>
                  </a:solidFill>
                  <a:latin typeface="Calibri" panose="020F0502020204030204" pitchFamily="34" charset="0"/>
                  <a:cs typeface="Calibri" panose="020F0502020204030204" pitchFamily="34" charset="0"/>
                </a:defRPr>
              </a:lvl1pPr>
            </a:lstStyle>
            <a:p>
              <a:r>
                <a:rPr lang="pt-PT" noProof="1"/>
                <a:t>IEG assumiu o 1º lugar em 2024</a:t>
              </a:r>
            </a:p>
          </p:txBody>
        </p:sp>
      </p:grp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570F5561-735C-0706-09C7-9273A0C6B861}"/>
              </a:ext>
            </a:extLst>
          </p:cNvPr>
          <p:cNvGrpSpPr/>
          <p:nvPr/>
        </p:nvGrpSpPr>
        <p:grpSpPr>
          <a:xfrm>
            <a:off x="4748980" y="3392857"/>
            <a:ext cx="4226640" cy="868433"/>
            <a:chOff x="4748980" y="3392857"/>
            <a:chExt cx="4226640" cy="868433"/>
          </a:xfrm>
        </p:grpSpPr>
        <p:sp>
          <p:nvSpPr>
            <p:cNvPr id="48" name="Google Shape;152;p7">
              <a:extLst>
                <a:ext uri="{FF2B5EF4-FFF2-40B4-BE49-F238E27FC236}">
                  <a16:creationId xmlns:a16="http://schemas.microsoft.com/office/drawing/2014/main" id="{CF20124A-9CDD-8817-7C81-251CD7A1F09B}"/>
                </a:ext>
              </a:extLst>
            </p:cNvPr>
            <p:cNvSpPr/>
            <p:nvPr/>
          </p:nvSpPr>
          <p:spPr>
            <a:xfrm>
              <a:off x="4748980" y="3392857"/>
              <a:ext cx="4226640" cy="868433"/>
            </a:xfrm>
            <a:prstGeom prst="rect">
              <a:avLst/>
            </a:prstGeom>
            <a:solidFill>
              <a:srgbClr val="FFFFFF"/>
            </a:solidFill>
            <a:ln w="1270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235;p10">
              <a:extLst>
                <a:ext uri="{FF2B5EF4-FFF2-40B4-BE49-F238E27FC236}">
                  <a16:creationId xmlns:a16="http://schemas.microsoft.com/office/drawing/2014/main" id="{1761B175-5ADA-83CD-9723-4887351C70D2}"/>
                </a:ext>
              </a:extLst>
            </p:cNvPr>
            <p:cNvSpPr/>
            <p:nvPr/>
          </p:nvSpPr>
          <p:spPr>
            <a:xfrm>
              <a:off x="4755193" y="3406597"/>
              <a:ext cx="4212000" cy="58107"/>
            </a:xfrm>
            <a:prstGeom prst="rect">
              <a:avLst/>
            </a:prstGeom>
            <a:solidFill>
              <a:srgbClr val="F15936"/>
            </a:solidFill>
            <a:ln w="12700" cap="flat" cmpd="sng">
              <a:solidFill>
                <a:srgbClr val="F1593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D21E9FED-BD78-8577-A30B-C1E5069A0DE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798815" y="3632878"/>
              <a:ext cx="388390" cy="388390"/>
            </a:xfrm>
            <a:prstGeom prst="rect">
              <a:avLst/>
            </a:prstGeom>
          </p:spPr>
        </p:pic>
        <p:sp>
          <p:nvSpPr>
            <p:cNvPr id="194" name="TextBox 193">
              <a:extLst>
                <a:ext uri="{FF2B5EF4-FFF2-40B4-BE49-F238E27FC236}">
                  <a16:creationId xmlns:a16="http://schemas.microsoft.com/office/drawing/2014/main" id="{ABE61E35-9B85-1FC9-85FE-037414857EBC}"/>
                </a:ext>
              </a:extLst>
            </p:cNvPr>
            <p:cNvSpPr txBox="1"/>
            <p:nvPr/>
          </p:nvSpPr>
          <p:spPr>
            <a:xfrm>
              <a:off x="5237040" y="3551477"/>
              <a:ext cx="2066895" cy="24622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defPPr>
              <a:lvl1pPr marL="0" indent="0">
                <a:buNone/>
                <a:defRPr sz="1000" b="1">
                  <a:solidFill>
                    <a:srgbClr val="1B3A6B"/>
                  </a:solidFill>
                  <a:latin typeface="Calibri" panose="020F0502020204030204" pitchFamily="34" charset="0"/>
                  <a:cs typeface="Calibri" panose="020F0502020204030204" pitchFamily="34" charset="0"/>
                </a:defRPr>
              </a:lvl1pPr>
            </a:lstStyle>
            <a:p>
              <a:r>
                <a:rPr lang="pt-BR" noProof="1"/>
                <a:t>IPS: base estrutural, não gatilho direto</a:t>
              </a:r>
            </a:p>
          </p:txBody>
        </p:sp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9485FBC5-4FDE-E945-725B-D22B08DBDFFC}"/>
                </a:ext>
              </a:extLst>
            </p:cNvPr>
            <p:cNvSpPr txBox="1"/>
            <p:nvPr/>
          </p:nvSpPr>
          <p:spPr>
            <a:xfrm>
              <a:off x="5237040" y="3853594"/>
              <a:ext cx="3508753" cy="3918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defPPr>
              <a:lvl1pPr>
                <a:buClr>
                  <a:srgbClr val="64748B"/>
                </a:buClr>
                <a:buSzPts val="950"/>
                <a:defRPr sz="950">
                  <a:solidFill>
                    <a:srgbClr val="64748B"/>
                  </a:solidFill>
                  <a:latin typeface="Calibri"/>
                  <a:cs typeface="Calibri"/>
                </a:defRPr>
              </a:lvl1pPr>
            </a:lstStyle>
            <a:p>
              <a:r>
                <a:rPr lang="pt-BR" noProof="1"/>
                <a:t>Baixa correlação com o IPV não significa irrelevância. IPS é o terreno — sem estabilidade emocional, os outros indicadores ficam frágeis.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Shape 254">
          <a:extLst>
            <a:ext uri="{FF2B5EF4-FFF2-40B4-BE49-F238E27FC236}">
              <a16:creationId xmlns:a16="http://schemas.microsoft.com/office/drawing/2014/main" id="{9510BC5D-E3AA-3F20-F3FE-BE1E9E07D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2">
            <a:extLst>
              <a:ext uri="{FF2B5EF4-FFF2-40B4-BE49-F238E27FC236}">
                <a16:creationId xmlns:a16="http://schemas.microsoft.com/office/drawing/2014/main" id="{8BDF0356-5D43-6BFA-D451-CA5FD393B6A5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 w="12700" cap="flat" cmpd="sng">
            <a:solidFill>
              <a:srgbClr val="1B3A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2">
            <a:extLst>
              <a:ext uri="{FF2B5EF4-FFF2-40B4-BE49-F238E27FC236}">
                <a16:creationId xmlns:a16="http://schemas.microsoft.com/office/drawing/2014/main" id="{A725017E-C7ED-A155-7B47-604D78EE9BFA}"/>
              </a:ext>
            </a:extLst>
          </p:cNvPr>
          <p:cNvSpPr/>
          <p:nvPr/>
        </p:nvSpPr>
        <p:spPr>
          <a:xfrm>
            <a:off x="320040" y="73152"/>
            <a:ext cx="85039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FFFFFF"/>
              </a:buClr>
              <a:buSzPts val="1300"/>
            </a:pPr>
            <a:r>
              <a:rPr lang="pt-BR" sz="1300" b="1" i="0" u="none" strike="noStrike" cap="none" noProof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Aba 3 — Riscos &amp; Virada  | </a:t>
            </a:r>
            <a:r>
              <a:rPr lang="pt-BR" sz="1300" b="1" noProof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 Que Define o Ponto de Virada</a:t>
            </a:r>
            <a:endParaRPr lang="pt-BR" sz="1300" b="0" i="0" u="none" strike="noStrike" cap="none" noProof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6AD74F3-4B6B-1692-A7A2-429C3201F1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947" y="847347"/>
            <a:ext cx="4033037" cy="3673334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628B2A4B-64EB-0BB3-4F7C-EA8769A249AA}"/>
              </a:ext>
            </a:extLst>
          </p:cNvPr>
          <p:cNvGrpSpPr/>
          <p:nvPr/>
        </p:nvGrpSpPr>
        <p:grpSpPr>
          <a:xfrm>
            <a:off x="4572000" y="1008692"/>
            <a:ext cx="4503174" cy="360000"/>
            <a:chOff x="4572000" y="1040169"/>
            <a:chExt cx="4503174" cy="360000"/>
          </a:xfrm>
        </p:grpSpPr>
        <p:sp>
          <p:nvSpPr>
            <p:cNvPr id="18" name="Google Shape;255;p12">
              <a:extLst>
                <a:ext uri="{FF2B5EF4-FFF2-40B4-BE49-F238E27FC236}">
                  <a16:creationId xmlns:a16="http://schemas.microsoft.com/office/drawing/2014/main" id="{F9AD9DE3-9C66-A5AE-CC4C-6A3C2A02496D}"/>
                </a:ext>
              </a:extLst>
            </p:cNvPr>
            <p:cNvSpPr/>
            <p:nvPr/>
          </p:nvSpPr>
          <p:spPr>
            <a:xfrm>
              <a:off x="4572000" y="1040169"/>
              <a:ext cx="4503174" cy="360000"/>
            </a:xfrm>
            <a:prstGeom prst="rect">
              <a:avLst/>
            </a:prstGeom>
            <a:solidFill>
              <a:srgbClr val="1B3A6B"/>
            </a:solidFill>
            <a:ln w="12700" cap="flat" cmpd="sng">
              <a:solidFill>
                <a:srgbClr val="1B3A6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C74FCF8-EE1E-3DB9-969B-4CE8983B14D7}"/>
                </a:ext>
              </a:extLst>
            </p:cNvPr>
            <p:cNvSpPr txBox="1"/>
            <p:nvPr/>
          </p:nvSpPr>
          <p:spPr>
            <a:xfrm>
              <a:off x="4899655" y="1080171"/>
              <a:ext cx="2376216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pt-BR" sz="1200" b="1" i="0" u="none" strike="noStrike" noProof="1">
                  <a:solidFill>
                    <a:srgbClr val="FFFFFF"/>
                  </a:solidFill>
                  <a:effectLst/>
                  <a:latin typeface="Calibri" panose="020F0502020204030204" pitchFamily="34" charset="0"/>
                </a:rPr>
                <a:t>O que investigar concretamente?</a:t>
              </a:r>
              <a:endParaRPr lang="pt-BR" sz="1200" b="0" noProof="1">
                <a:effectLst/>
              </a:endParaRPr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0BC99A79-CFE3-121C-609A-F65EDF19CE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628653" y="1083169"/>
              <a:ext cx="271002" cy="271002"/>
            </a:xfrm>
            <a:prstGeom prst="rect">
              <a:avLst/>
            </a:prstGeom>
          </p:spPr>
        </p:pic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3AF64D3E-42F0-9919-A2E4-0659EAF050DB}"/>
              </a:ext>
            </a:extLst>
          </p:cNvPr>
          <p:cNvGrpSpPr/>
          <p:nvPr/>
        </p:nvGrpSpPr>
        <p:grpSpPr>
          <a:xfrm>
            <a:off x="4729315" y="1536550"/>
            <a:ext cx="4226640" cy="738762"/>
            <a:chOff x="4748980" y="1552022"/>
            <a:chExt cx="4226640" cy="738762"/>
          </a:xfrm>
        </p:grpSpPr>
        <p:sp>
          <p:nvSpPr>
            <p:cNvPr id="31" name="Google Shape;143;p7">
              <a:extLst>
                <a:ext uri="{FF2B5EF4-FFF2-40B4-BE49-F238E27FC236}">
                  <a16:creationId xmlns:a16="http://schemas.microsoft.com/office/drawing/2014/main" id="{BCBC9F91-D260-D9E6-7978-BBD1102BE93C}"/>
                </a:ext>
              </a:extLst>
            </p:cNvPr>
            <p:cNvSpPr/>
            <p:nvPr/>
          </p:nvSpPr>
          <p:spPr>
            <a:xfrm>
              <a:off x="4748980" y="1552022"/>
              <a:ext cx="4226640" cy="738762"/>
            </a:xfrm>
            <a:prstGeom prst="rect">
              <a:avLst/>
            </a:prstGeom>
            <a:solidFill>
              <a:srgbClr val="FFFFFF"/>
            </a:solidFill>
            <a:ln w="1270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" name="Google Shape;235;p10">
              <a:extLst>
                <a:ext uri="{FF2B5EF4-FFF2-40B4-BE49-F238E27FC236}">
                  <a16:creationId xmlns:a16="http://schemas.microsoft.com/office/drawing/2014/main" id="{68AFE4C3-068C-E4EC-54DF-D751E2E3E672}"/>
                </a:ext>
              </a:extLst>
            </p:cNvPr>
            <p:cNvSpPr/>
            <p:nvPr/>
          </p:nvSpPr>
          <p:spPr>
            <a:xfrm>
              <a:off x="4762486" y="1564448"/>
              <a:ext cx="4199776" cy="58107"/>
            </a:xfrm>
            <a:prstGeom prst="rect">
              <a:avLst/>
            </a:prstGeom>
            <a:solidFill>
              <a:srgbClr val="2E5FA3"/>
            </a:solidFill>
            <a:ln w="12700" cap="flat" cmpd="sng">
              <a:solidFill>
                <a:srgbClr val="2E5FA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E5CAB6E-A8D0-4373-C1CF-5602A464207A}"/>
                </a:ext>
              </a:extLst>
            </p:cNvPr>
            <p:cNvSpPr txBox="1"/>
            <p:nvPr/>
          </p:nvSpPr>
          <p:spPr>
            <a:xfrm>
              <a:off x="4983658" y="1663271"/>
              <a:ext cx="1537113" cy="24642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defPPr>
              <a:lvl1pPr marL="0" indent="0">
                <a:buNone/>
                <a:defRPr sz="1000" b="1">
                  <a:solidFill>
                    <a:srgbClr val="1B3A6B"/>
                  </a:solidFill>
                  <a:latin typeface="Calibri" panose="020F0502020204030204" pitchFamily="34" charset="0"/>
                  <a:cs typeface="Calibri" panose="020F0502020204030204" pitchFamily="34" charset="0"/>
                </a:defRPr>
              </a:lvl1pPr>
            </a:lstStyle>
            <a:p>
              <a:r>
                <a:rPr lang="pt-BR" noProof="1"/>
                <a:t>O critério do PV mudou?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B9A087B6-B601-FF8D-9EDE-C3B77316E8CA}"/>
                </a:ext>
              </a:extLst>
            </p:cNvPr>
            <p:cNvSpPr txBox="1"/>
            <p:nvPr/>
          </p:nvSpPr>
          <p:spPr>
            <a:xfrm>
              <a:off x="4983658" y="1833454"/>
              <a:ext cx="3592800" cy="3847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defPPr>
              <a:lvl1pPr marL="0" indent="0">
                <a:buClr>
                  <a:srgbClr val="64748B"/>
                </a:buClr>
                <a:buSzPts val="950"/>
                <a:buFont typeface="Calibri"/>
                <a:buNone/>
                <a:defRPr sz="950">
                  <a:solidFill>
                    <a:srgbClr val="64748B"/>
                  </a:solidFill>
                  <a:latin typeface="Calibri"/>
                  <a:ea typeface="Calibri"/>
                  <a:cs typeface="Calibri"/>
                </a:defRPr>
              </a:lvl1pPr>
            </a:lstStyle>
            <a:p>
              <a:r>
                <a:rPr lang="pt-BR" noProof="1"/>
                <a:t>A banca avaliadora passou a valorizar mais atitude (IEG) do que nota (IDA)? Se sim, foi deliberado — ou inconsciente? Vale alinhar os critérios entre avaliadores.</a:t>
              </a: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551EF569-C5BC-71B2-91A1-A242A88E277A}"/>
              </a:ext>
            </a:extLst>
          </p:cNvPr>
          <p:cNvGrpSpPr/>
          <p:nvPr/>
        </p:nvGrpSpPr>
        <p:grpSpPr>
          <a:xfrm>
            <a:off x="4742821" y="2372886"/>
            <a:ext cx="4226640" cy="872301"/>
            <a:chOff x="4644293" y="2933453"/>
            <a:chExt cx="4226640" cy="872301"/>
          </a:xfrm>
        </p:grpSpPr>
        <p:sp>
          <p:nvSpPr>
            <p:cNvPr id="42" name="Google Shape;143;p7">
              <a:extLst>
                <a:ext uri="{FF2B5EF4-FFF2-40B4-BE49-F238E27FC236}">
                  <a16:creationId xmlns:a16="http://schemas.microsoft.com/office/drawing/2014/main" id="{728749A2-5D01-4A12-4F7A-FC460F8721C6}"/>
                </a:ext>
              </a:extLst>
            </p:cNvPr>
            <p:cNvSpPr/>
            <p:nvPr/>
          </p:nvSpPr>
          <p:spPr>
            <a:xfrm>
              <a:off x="4644293" y="2933453"/>
              <a:ext cx="4226640" cy="872301"/>
            </a:xfrm>
            <a:prstGeom prst="rect">
              <a:avLst/>
            </a:prstGeom>
            <a:solidFill>
              <a:srgbClr val="FFFFFF"/>
            </a:solidFill>
            <a:ln w="1270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" name="Google Shape;235;p10">
              <a:extLst>
                <a:ext uri="{FF2B5EF4-FFF2-40B4-BE49-F238E27FC236}">
                  <a16:creationId xmlns:a16="http://schemas.microsoft.com/office/drawing/2014/main" id="{CE815B27-939A-6380-9A59-1D306B481ACD}"/>
                </a:ext>
              </a:extLst>
            </p:cNvPr>
            <p:cNvSpPr/>
            <p:nvPr/>
          </p:nvSpPr>
          <p:spPr>
            <a:xfrm>
              <a:off x="4657799" y="2945880"/>
              <a:ext cx="4199776" cy="58107"/>
            </a:xfrm>
            <a:prstGeom prst="rect">
              <a:avLst/>
            </a:prstGeom>
            <a:solidFill>
              <a:srgbClr val="2E5FA3"/>
            </a:solidFill>
            <a:ln w="12700" cap="flat" cmpd="sng">
              <a:solidFill>
                <a:srgbClr val="2E5FA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6DC9B24D-1789-41B7-17BB-3F7BF0401E1B}"/>
                </a:ext>
              </a:extLst>
            </p:cNvPr>
            <p:cNvSpPr txBox="1"/>
            <p:nvPr/>
          </p:nvSpPr>
          <p:spPr>
            <a:xfrm>
              <a:off x="4865465" y="3113988"/>
              <a:ext cx="2041695" cy="26006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defPPr>
              <a:lvl1pPr marL="0" indent="0">
                <a:buNone/>
                <a:defRPr sz="1000" b="1">
                  <a:solidFill>
                    <a:srgbClr val="1B3A6B"/>
                  </a:solidFill>
                  <a:latin typeface="Calibri" panose="020F0502020204030204" pitchFamily="34" charset="0"/>
                  <a:cs typeface="Calibri" panose="020F0502020204030204" pitchFamily="34" charset="0"/>
                </a:defRPr>
              </a:lvl1pPr>
            </a:lstStyle>
            <a:p>
              <a:r>
                <a:rPr lang="pt-BR" noProof="1"/>
                <a:t>O que derrubou o IPS em 2023?</a:t>
              </a:r>
            </a:p>
            <a:p>
              <a:br>
                <a:rPr lang="pt-BR" noProof="1"/>
              </a:br>
              <a:endParaRPr lang="pt-BR" noProof="1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D4BAB9AA-8B34-E355-CE7C-F54F951F671D}"/>
                </a:ext>
              </a:extLst>
            </p:cNvPr>
            <p:cNvSpPr txBox="1"/>
            <p:nvPr/>
          </p:nvSpPr>
          <p:spPr>
            <a:xfrm>
              <a:off x="4865465" y="3298545"/>
              <a:ext cx="3657138" cy="5029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defPPr>
              <a:lvl1pPr marL="0" indent="0">
                <a:buClr>
                  <a:srgbClr val="64748B"/>
                </a:buClr>
                <a:buSzPts val="950"/>
                <a:buFont typeface="Calibri"/>
                <a:buNone/>
                <a:defRPr sz="950">
                  <a:solidFill>
                    <a:srgbClr val="64748B"/>
                  </a:solidFill>
                  <a:latin typeface="Calibri"/>
                  <a:ea typeface="Calibri"/>
                  <a:cs typeface="Calibri"/>
                </a:defRPr>
              </a:lvl1pPr>
            </a:lstStyle>
            <a:p>
              <a:r>
                <a:rPr lang="pt-BR" noProof="1"/>
                <a:t>Crise familiar, pós-pandemia, turnover da equipe? A recuperação em 2024 veio de qual intervenção? Documentar isso é a prova de que o suporte psicossocial tem retorno mensurável.</a:t>
              </a:r>
            </a:p>
          </p:txBody>
        </p:sp>
      </p:grp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50134E18-4F04-109B-19A0-1F4ACD971ACF}"/>
              </a:ext>
            </a:extLst>
          </p:cNvPr>
          <p:cNvGrpSpPr/>
          <p:nvPr/>
        </p:nvGrpSpPr>
        <p:grpSpPr>
          <a:xfrm>
            <a:off x="4729315" y="3342761"/>
            <a:ext cx="4226640" cy="872301"/>
            <a:chOff x="4729315" y="3238946"/>
            <a:chExt cx="4226640" cy="872301"/>
          </a:xfrm>
        </p:grpSpPr>
        <p:sp>
          <p:nvSpPr>
            <p:cNvPr id="62" name="Google Shape;143;p7">
              <a:extLst>
                <a:ext uri="{FF2B5EF4-FFF2-40B4-BE49-F238E27FC236}">
                  <a16:creationId xmlns:a16="http://schemas.microsoft.com/office/drawing/2014/main" id="{79797A20-DBD7-87FD-CDE1-4B19DD048509}"/>
                </a:ext>
              </a:extLst>
            </p:cNvPr>
            <p:cNvSpPr/>
            <p:nvPr/>
          </p:nvSpPr>
          <p:spPr>
            <a:xfrm>
              <a:off x="4729315" y="3238946"/>
              <a:ext cx="4226640" cy="872301"/>
            </a:xfrm>
            <a:prstGeom prst="rect">
              <a:avLst/>
            </a:prstGeom>
            <a:solidFill>
              <a:srgbClr val="FFFFFF"/>
            </a:solidFill>
            <a:ln w="1270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3" name="Google Shape;235;p10">
              <a:extLst>
                <a:ext uri="{FF2B5EF4-FFF2-40B4-BE49-F238E27FC236}">
                  <a16:creationId xmlns:a16="http://schemas.microsoft.com/office/drawing/2014/main" id="{266E8CB1-0B7A-D9F3-8879-D7A5DA13D811}"/>
                </a:ext>
              </a:extLst>
            </p:cNvPr>
            <p:cNvSpPr/>
            <p:nvPr/>
          </p:nvSpPr>
          <p:spPr>
            <a:xfrm>
              <a:off x="4742821" y="3251373"/>
              <a:ext cx="4199776" cy="58107"/>
            </a:xfrm>
            <a:prstGeom prst="rect">
              <a:avLst/>
            </a:prstGeom>
            <a:solidFill>
              <a:srgbClr val="2E5FA3"/>
            </a:solidFill>
            <a:ln w="12700" cap="flat" cmpd="sng">
              <a:solidFill>
                <a:srgbClr val="2E5FA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D5B43729-6477-EBFF-7E6B-27D2C05FC120}"/>
                </a:ext>
              </a:extLst>
            </p:cNvPr>
            <p:cNvSpPr txBox="1"/>
            <p:nvPr/>
          </p:nvSpPr>
          <p:spPr>
            <a:xfrm>
              <a:off x="4899655" y="3425109"/>
              <a:ext cx="1943167" cy="18322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defPPr>
              <a:lvl1pPr marL="0" indent="0">
                <a:buNone/>
                <a:defRPr sz="1000" b="1">
                  <a:solidFill>
                    <a:srgbClr val="1B3A6B"/>
                  </a:solidFill>
                  <a:latin typeface="Calibri" panose="020F0502020204030204" pitchFamily="34" charset="0"/>
                  <a:cs typeface="Calibri" panose="020F0502020204030204" pitchFamily="34" charset="0"/>
                </a:defRPr>
              </a:lvl1pPr>
            </a:lstStyle>
            <a:p>
              <a:r>
                <a:rPr lang="pt-BR" noProof="1"/>
                <a:t>Por que o IAN saltou em 2023?</a:t>
              </a:r>
            </a:p>
          </p:txBody>
        </p:sp>
        <p:sp>
          <p:nvSpPr>
            <p:cNvPr id="202" name="TextBox 201">
              <a:extLst>
                <a:ext uri="{FF2B5EF4-FFF2-40B4-BE49-F238E27FC236}">
                  <a16:creationId xmlns:a16="http://schemas.microsoft.com/office/drawing/2014/main" id="{E1E2D352-E641-DA7B-94ED-FE928E246242}"/>
                </a:ext>
              </a:extLst>
            </p:cNvPr>
            <p:cNvSpPr txBox="1"/>
            <p:nvPr/>
          </p:nvSpPr>
          <p:spPr>
            <a:xfrm>
              <a:off x="4899655" y="3608336"/>
              <a:ext cx="3721476" cy="43272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defPPr>
              <a:lvl1pPr marL="0" indent="0">
                <a:buClr>
                  <a:srgbClr val="64748B"/>
                </a:buClr>
                <a:buSzPts val="950"/>
                <a:buFont typeface="Calibri"/>
                <a:buNone/>
                <a:defRPr sz="950">
                  <a:solidFill>
                    <a:srgbClr val="64748B"/>
                  </a:solidFill>
                  <a:latin typeface="Calibri"/>
                  <a:ea typeface="Calibri"/>
                  <a:cs typeface="Calibri"/>
                </a:defRPr>
              </a:lvl1pPr>
            </a:lstStyle>
            <a:p>
              <a:r>
                <a:rPr lang="pt-BR" noProof="1"/>
                <a:t>Houve iniciativa específica de correção de defasagem naquele ciclo? Se sim, é uma das evidências mais fortes de impacto — merece ser replicada e comunicada.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8084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>
          <a:extLst>
            <a:ext uri="{FF2B5EF4-FFF2-40B4-BE49-F238E27FC236}">
              <a16:creationId xmlns:a16="http://schemas.microsoft.com/office/drawing/2014/main" id="{52C94A7D-ADB5-3C5C-4C8D-B6AF6CA82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2">
            <a:extLst>
              <a:ext uri="{FF2B5EF4-FFF2-40B4-BE49-F238E27FC236}">
                <a16:creationId xmlns:a16="http://schemas.microsoft.com/office/drawing/2014/main" id="{8D33DE52-C4D2-B005-00FD-504C38A82179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 w="12700" cap="flat" cmpd="sng">
            <a:solidFill>
              <a:srgbClr val="1B3A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2">
            <a:extLst>
              <a:ext uri="{FF2B5EF4-FFF2-40B4-BE49-F238E27FC236}">
                <a16:creationId xmlns:a16="http://schemas.microsoft.com/office/drawing/2014/main" id="{AA4171DC-2E43-5366-AF3E-7502A1B02526}"/>
              </a:ext>
            </a:extLst>
          </p:cNvPr>
          <p:cNvSpPr/>
          <p:nvPr/>
        </p:nvSpPr>
        <p:spPr>
          <a:xfrm>
            <a:off x="320040" y="73152"/>
            <a:ext cx="85039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FFFFFF"/>
              </a:buClr>
              <a:buSzPts val="1300"/>
            </a:pPr>
            <a:r>
              <a:rPr lang="pt-BR" sz="1300" b="1" i="0" u="none" strike="noStrike" cap="none" noProof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Aba 3 — Riscos &amp; Virada  | </a:t>
            </a:r>
            <a:r>
              <a:rPr lang="pt-BR" sz="1300" b="1" noProof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Psicossocial </a:t>
            </a:r>
            <a:endParaRPr lang="pt-BR" sz="1300" b="0" i="0" u="none" strike="noStrike" cap="none" noProof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F1F48B-1B19-7E3E-120F-493D89C0AC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934" y="1386341"/>
            <a:ext cx="5042271" cy="2015595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E4BE0DC9-72A0-3689-A4D5-6BDF5635416A}"/>
              </a:ext>
            </a:extLst>
          </p:cNvPr>
          <p:cNvGrpSpPr/>
          <p:nvPr/>
        </p:nvGrpSpPr>
        <p:grpSpPr>
          <a:xfrm>
            <a:off x="5354479" y="644867"/>
            <a:ext cx="3646463" cy="771121"/>
            <a:chOff x="5407742" y="995747"/>
            <a:chExt cx="3646463" cy="771121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07CC5077-3228-CDFB-6737-0C52BFCCC03A}"/>
                </a:ext>
              </a:extLst>
            </p:cNvPr>
            <p:cNvGrpSpPr/>
            <p:nvPr/>
          </p:nvGrpSpPr>
          <p:grpSpPr>
            <a:xfrm>
              <a:off x="5407742" y="995747"/>
              <a:ext cx="3593200" cy="763587"/>
              <a:chOff x="5606750" y="3602736"/>
              <a:chExt cx="3593200" cy="763587"/>
            </a:xfrm>
          </p:grpSpPr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72652E0A-BD58-C2A4-845F-E6FA0E76749E}"/>
                  </a:ext>
                </a:extLst>
              </p:cNvPr>
              <p:cNvGrpSpPr/>
              <p:nvPr/>
            </p:nvGrpSpPr>
            <p:grpSpPr>
              <a:xfrm>
                <a:off x="5606750" y="3602736"/>
                <a:ext cx="3593200" cy="763587"/>
                <a:chOff x="5606750" y="3602736"/>
                <a:chExt cx="3593200" cy="763587"/>
              </a:xfrm>
            </p:grpSpPr>
            <p:sp>
              <p:nvSpPr>
                <p:cNvPr id="18" name="Google Shape;152;p7">
                  <a:extLst>
                    <a:ext uri="{FF2B5EF4-FFF2-40B4-BE49-F238E27FC236}">
                      <a16:creationId xmlns:a16="http://schemas.microsoft.com/office/drawing/2014/main" id="{92BC2925-656E-DA42-7E62-D5DB3D3A1C6E}"/>
                    </a:ext>
                  </a:extLst>
                </p:cNvPr>
                <p:cNvSpPr/>
                <p:nvPr/>
              </p:nvSpPr>
              <p:spPr>
                <a:xfrm>
                  <a:off x="5606750" y="3602736"/>
                  <a:ext cx="3593200" cy="763587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>
                  <a:solidFill>
                    <a:srgbClr val="E2E8F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pic>
              <p:nvPicPr>
                <p:cNvPr id="19" name="Picture 18">
                  <a:extLst>
                    <a:ext uri="{FF2B5EF4-FFF2-40B4-BE49-F238E27FC236}">
                      <a16:creationId xmlns:a16="http://schemas.microsoft.com/office/drawing/2014/main" id="{E1642B19-D90E-0C51-527D-9EB7167FB11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695233" y="3832541"/>
                  <a:ext cx="337813" cy="337813"/>
                </a:xfrm>
                <a:prstGeom prst="rect">
                  <a:avLst/>
                </a:prstGeom>
              </p:spPr>
            </p:pic>
          </p:grpSp>
          <p:sp>
            <p:nvSpPr>
              <p:cNvPr id="17" name="Google Shape;235;p10">
                <a:extLst>
                  <a:ext uri="{FF2B5EF4-FFF2-40B4-BE49-F238E27FC236}">
                    <a16:creationId xmlns:a16="http://schemas.microsoft.com/office/drawing/2014/main" id="{C8F3C72F-869B-25EE-489B-30817DF8F8BC}"/>
                  </a:ext>
                </a:extLst>
              </p:cNvPr>
              <p:cNvSpPr/>
              <p:nvPr/>
            </p:nvSpPr>
            <p:spPr>
              <a:xfrm>
                <a:off x="5606750" y="3613547"/>
                <a:ext cx="3593199" cy="47930"/>
              </a:xfrm>
              <a:prstGeom prst="rect">
                <a:avLst/>
              </a:prstGeom>
              <a:solidFill>
                <a:srgbClr val="F15936"/>
              </a:solidFill>
              <a:ln w="12700" cap="flat" cmpd="sng">
                <a:solidFill>
                  <a:srgbClr val="F1593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8A08437-F69D-4994-98F9-DF3FD7036779}"/>
                </a:ext>
              </a:extLst>
            </p:cNvPr>
            <p:cNvSpPr txBox="1"/>
            <p:nvPr/>
          </p:nvSpPr>
          <p:spPr>
            <a:xfrm>
              <a:off x="5945245" y="1136784"/>
              <a:ext cx="3108960" cy="2769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defPPr>
              <a:lvl1pPr marL="0" indent="0">
                <a:buNone/>
                <a:defRPr sz="1000" b="1">
                  <a:solidFill>
                    <a:srgbClr val="1B3A6B"/>
                  </a:solidFill>
                  <a:latin typeface="Calibri" panose="020F0502020204030204" pitchFamily="34" charset="0"/>
                  <a:cs typeface="Calibri" panose="020F0502020204030204" pitchFamily="34" charset="0"/>
                </a:defRPr>
              </a:lvl1pPr>
            </a:lstStyle>
            <a:p>
              <a:r>
                <a:rPr lang="pt-BR" noProof="1"/>
                <a:t>2022→2023  Ruptura emocional sem impacto imediato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8C8C4E9-FD24-E664-5D48-3CA8EDC1F378}"/>
                </a:ext>
              </a:extLst>
            </p:cNvPr>
            <p:cNvSpPr txBox="1"/>
            <p:nvPr/>
          </p:nvSpPr>
          <p:spPr>
            <a:xfrm>
              <a:off x="5945245" y="1342943"/>
              <a:ext cx="2878715" cy="4239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defPPr>
              <a:lvl1pPr marL="0" indent="0">
                <a:buClr>
                  <a:srgbClr val="64748B"/>
                </a:buClr>
                <a:buSzPts val="950"/>
                <a:buFont typeface="Calibri"/>
                <a:buNone/>
                <a:defRPr sz="950">
                  <a:solidFill>
                    <a:srgbClr val="64748B"/>
                  </a:solidFill>
                  <a:latin typeface="Calibri"/>
                  <a:ea typeface="Calibri"/>
                  <a:cs typeface="Calibri"/>
                </a:defRPr>
              </a:lvl1pPr>
            </a:lstStyle>
            <a:p>
              <a:r>
                <a:rPr lang="pt-BR" noProof="1"/>
                <a:t>IPS cai 1,8 pts, IDA cai só 0,2. Alunos entregaram sob pressão — resiliência, mas sinal ignorado.</a:t>
              </a: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B2ABE0D7-380F-6BD0-782F-D5D6B86627D5}"/>
              </a:ext>
            </a:extLst>
          </p:cNvPr>
          <p:cNvGrpSpPr/>
          <p:nvPr/>
        </p:nvGrpSpPr>
        <p:grpSpPr>
          <a:xfrm>
            <a:off x="5354479" y="1529543"/>
            <a:ext cx="3593198" cy="966976"/>
            <a:chOff x="5407742" y="2060135"/>
            <a:chExt cx="3593198" cy="966976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D6B1B8A4-F964-CB62-9CE5-89E45EDCC639}"/>
                </a:ext>
              </a:extLst>
            </p:cNvPr>
            <p:cNvGrpSpPr/>
            <p:nvPr/>
          </p:nvGrpSpPr>
          <p:grpSpPr>
            <a:xfrm>
              <a:off x="5407742" y="2060135"/>
              <a:ext cx="3593198" cy="763588"/>
              <a:chOff x="5794444" y="810586"/>
              <a:chExt cx="3593198" cy="763588"/>
            </a:xfrm>
          </p:grpSpPr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933CF6A7-A1EF-4C6B-B7A0-4D3BB9971A0C}"/>
                  </a:ext>
                </a:extLst>
              </p:cNvPr>
              <p:cNvGrpSpPr/>
              <p:nvPr/>
            </p:nvGrpSpPr>
            <p:grpSpPr>
              <a:xfrm>
                <a:off x="5794444" y="810586"/>
                <a:ext cx="3593198" cy="763588"/>
                <a:chOff x="5806440" y="4133088"/>
                <a:chExt cx="3593198" cy="763588"/>
              </a:xfrm>
            </p:grpSpPr>
            <p:sp>
              <p:nvSpPr>
                <p:cNvPr id="37" name="Google Shape;155;p7">
                  <a:extLst>
                    <a:ext uri="{FF2B5EF4-FFF2-40B4-BE49-F238E27FC236}">
                      <a16:creationId xmlns:a16="http://schemas.microsoft.com/office/drawing/2014/main" id="{635478C5-6FAD-CA35-34E2-F89F062CD2F7}"/>
                    </a:ext>
                  </a:extLst>
                </p:cNvPr>
                <p:cNvSpPr/>
                <p:nvPr/>
              </p:nvSpPr>
              <p:spPr>
                <a:xfrm>
                  <a:off x="5806440" y="4133088"/>
                  <a:ext cx="3593198" cy="76358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>
                  <a:solidFill>
                    <a:srgbClr val="E2E8F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" name="Google Shape;235;p10">
                  <a:extLst>
                    <a:ext uri="{FF2B5EF4-FFF2-40B4-BE49-F238E27FC236}">
                      <a16:creationId xmlns:a16="http://schemas.microsoft.com/office/drawing/2014/main" id="{D6C54EBF-C1F1-8BFA-CBD3-F7F5C0241FB0}"/>
                    </a:ext>
                  </a:extLst>
                </p:cNvPr>
                <p:cNvSpPr/>
                <p:nvPr/>
              </p:nvSpPr>
              <p:spPr>
                <a:xfrm>
                  <a:off x="5814828" y="4143625"/>
                  <a:ext cx="3584810" cy="52182"/>
                </a:xfrm>
                <a:prstGeom prst="rect">
                  <a:avLst/>
                </a:prstGeom>
                <a:solidFill>
                  <a:srgbClr val="ED3337"/>
                </a:solidFill>
                <a:ln w="12700" cap="flat" cmpd="sng">
                  <a:solidFill>
                    <a:srgbClr val="ED3337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pic>
            <p:nvPicPr>
              <p:cNvPr id="33" name="Picture 32">
                <a:extLst>
                  <a:ext uri="{FF2B5EF4-FFF2-40B4-BE49-F238E27FC236}">
                    <a16:creationId xmlns:a16="http://schemas.microsoft.com/office/drawing/2014/main" id="{804E1080-7A33-F73B-CEED-741249200F2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duotone>
                  <a:prstClr val="black"/>
                  <a:srgbClr val="ED3337">
                    <a:tint val="45000"/>
                    <a:satMod val="400000"/>
                  </a:srgb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colorTemperature colorTemp="11200"/>
                        </a14:imgEffect>
                        <a14:imgEffect>
                          <a14:saturation sat="400000"/>
                        </a14:imgEffect>
                        <a14:imgEffect>
                          <a14:brightnessContrast bright="40000" contrast="2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5909618" y="1056892"/>
                <a:ext cx="311122" cy="311122"/>
              </a:xfrm>
              <a:prstGeom prst="rect">
                <a:avLst/>
              </a:prstGeom>
              <a:ln>
                <a:noFill/>
              </a:ln>
            </p:spPr>
          </p:pic>
        </p:grp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9EDB3B61-9EF1-7103-540C-455839C5DC57}"/>
                </a:ext>
              </a:extLst>
            </p:cNvPr>
            <p:cNvSpPr txBox="1"/>
            <p:nvPr/>
          </p:nvSpPr>
          <p:spPr>
            <a:xfrm>
              <a:off x="5945245" y="2231601"/>
              <a:ext cx="2008239" cy="23040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defPPr>
              <a:lvl1pPr marL="0" indent="0">
                <a:buNone/>
                <a:defRPr sz="1000" b="1">
                  <a:solidFill>
                    <a:srgbClr val="1B3A6B"/>
                  </a:solidFill>
                  <a:latin typeface="Calibri" panose="020F0502020204030204" pitchFamily="34" charset="0"/>
                  <a:cs typeface="Calibri" panose="020F0502020204030204" pitchFamily="34" charset="0"/>
                </a:defRPr>
              </a:lvl1pPr>
            </a:lstStyle>
            <a:p>
              <a:r>
                <a:rPr lang="pt-BR" noProof="1"/>
                <a:t>2023→2024  O efeito tardio chega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E21E9DBF-2BC6-8280-27B2-F853457159A1}"/>
                </a:ext>
              </a:extLst>
            </p:cNvPr>
            <p:cNvSpPr txBox="1"/>
            <p:nvPr/>
          </p:nvSpPr>
          <p:spPr>
            <a:xfrm>
              <a:off x="5945245" y="2447414"/>
              <a:ext cx="2878715" cy="5796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defPPr>
              <a:lvl1pPr marL="0" indent="0">
                <a:buClr>
                  <a:srgbClr val="64748B"/>
                </a:buClr>
                <a:buSzPts val="950"/>
                <a:buFont typeface="Calibri"/>
                <a:buNone/>
                <a:defRPr sz="950">
                  <a:solidFill>
                    <a:srgbClr val="64748B"/>
                  </a:solidFill>
                  <a:latin typeface="Calibri"/>
                  <a:ea typeface="Calibri"/>
                  <a:cs typeface="Calibri"/>
                </a:defRPr>
              </a:lvl1pPr>
            </a:lstStyle>
            <a:p>
              <a:r>
                <a:rPr lang="pt-BR" noProof="1"/>
                <a:t>IPS sobe +1,7 pts, IDA continua caindo −0,3. O dano emocional de 2023 cobrou o preço em 2024.</a:t>
              </a:r>
            </a:p>
            <a:p>
              <a:br>
                <a:rPr lang="pt-BR" noProof="1"/>
              </a:br>
              <a:endParaRPr lang="pt-BR" noProof="1"/>
            </a:p>
          </p:txBody>
        </p:sp>
      </p:grp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7661678A-17CB-9554-6CC5-66CA45840736}"/>
              </a:ext>
            </a:extLst>
          </p:cNvPr>
          <p:cNvGrpSpPr/>
          <p:nvPr/>
        </p:nvGrpSpPr>
        <p:grpSpPr>
          <a:xfrm>
            <a:off x="5354479" y="2401878"/>
            <a:ext cx="3593198" cy="919200"/>
            <a:chOff x="5416131" y="3087516"/>
            <a:chExt cx="3593198" cy="919200"/>
          </a:xfrm>
        </p:grpSpPr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6864E658-239E-09AD-66B0-57EBE03DDB6D}"/>
                </a:ext>
              </a:extLst>
            </p:cNvPr>
            <p:cNvGrpSpPr/>
            <p:nvPr/>
          </p:nvGrpSpPr>
          <p:grpSpPr>
            <a:xfrm>
              <a:off x="5416131" y="3087516"/>
              <a:ext cx="3593198" cy="919200"/>
              <a:chOff x="5806440" y="2011679"/>
              <a:chExt cx="3591534" cy="919200"/>
            </a:xfrm>
          </p:grpSpPr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463E58FE-E281-5CA9-A6D4-6C206DF185E7}"/>
                  </a:ext>
                </a:extLst>
              </p:cNvPr>
              <p:cNvGrpSpPr/>
              <p:nvPr/>
            </p:nvGrpSpPr>
            <p:grpSpPr>
              <a:xfrm>
                <a:off x="5806440" y="2011679"/>
                <a:ext cx="3591534" cy="919200"/>
                <a:chOff x="5806440" y="2011679"/>
                <a:chExt cx="3591534" cy="919200"/>
              </a:xfrm>
            </p:grpSpPr>
            <p:sp>
              <p:nvSpPr>
                <p:cNvPr id="60" name="Google Shape;143;p7">
                  <a:extLst>
                    <a:ext uri="{FF2B5EF4-FFF2-40B4-BE49-F238E27FC236}">
                      <a16:creationId xmlns:a16="http://schemas.microsoft.com/office/drawing/2014/main" id="{46EE653B-3B8F-F4CE-FEEA-CBD50B511993}"/>
                    </a:ext>
                  </a:extLst>
                </p:cNvPr>
                <p:cNvSpPr/>
                <p:nvPr/>
              </p:nvSpPr>
              <p:spPr>
                <a:xfrm>
                  <a:off x="5806440" y="2011679"/>
                  <a:ext cx="3591534" cy="919200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>
                  <a:solidFill>
                    <a:srgbClr val="E2E8F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pic>
              <p:nvPicPr>
                <p:cNvPr id="62" name="Picture 61">
                  <a:extLst>
                    <a:ext uri="{FF2B5EF4-FFF2-40B4-BE49-F238E27FC236}">
                      <a16:creationId xmlns:a16="http://schemas.microsoft.com/office/drawing/2014/main" id="{878266B3-CD2B-3293-5A8A-7081A36C516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duotone>
                    <a:schemeClr val="accent5">
                      <a:shade val="45000"/>
                      <a:satMod val="135000"/>
                    </a:schemeClr>
                    <a:prstClr val="white"/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8">
                          <a14:imgEffect>
                            <a14:saturation sat="400000"/>
                          </a14:imgEffect>
                        </a14:imgLayer>
                      </a14:imgProps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876991" y="2191183"/>
                  <a:ext cx="347162" cy="347162"/>
                </a:xfrm>
                <a:prstGeom prst="rect">
                  <a:avLst/>
                </a:prstGeom>
              </p:spPr>
            </p:pic>
          </p:grpSp>
          <p:sp>
            <p:nvSpPr>
              <p:cNvPr id="59" name="Google Shape;235;p10">
                <a:extLst>
                  <a:ext uri="{FF2B5EF4-FFF2-40B4-BE49-F238E27FC236}">
                    <a16:creationId xmlns:a16="http://schemas.microsoft.com/office/drawing/2014/main" id="{6A397D6E-0685-8787-6B4E-2B20CB314AAF}"/>
                  </a:ext>
                </a:extLst>
              </p:cNvPr>
              <p:cNvSpPr/>
              <p:nvPr/>
            </p:nvSpPr>
            <p:spPr>
              <a:xfrm>
                <a:off x="5816374" y="2021457"/>
                <a:ext cx="3573214" cy="45719"/>
              </a:xfrm>
              <a:prstGeom prst="rect">
                <a:avLst/>
              </a:prstGeom>
              <a:solidFill>
                <a:srgbClr val="2E5FA3"/>
              </a:solidFill>
              <a:ln w="12700" cap="flat" cmpd="sng">
                <a:solidFill>
                  <a:srgbClr val="2E5FA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sp>
          <p:nvSpPr>
            <p:cNvPr id="193" name="TextBox 192">
              <a:extLst>
                <a:ext uri="{FF2B5EF4-FFF2-40B4-BE49-F238E27FC236}">
                  <a16:creationId xmlns:a16="http://schemas.microsoft.com/office/drawing/2014/main" id="{26C9EE83-F0AF-8F9E-AB95-A9FEACE77EE0}"/>
                </a:ext>
              </a:extLst>
            </p:cNvPr>
            <p:cNvSpPr txBox="1"/>
            <p:nvPr/>
          </p:nvSpPr>
          <p:spPr>
            <a:xfrm>
              <a:off x="5945245" y="3221172"/>
              <a:ext cx="2608007" cy="21942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defPPr>
              <a:lvl1pPr marL="0" indent="0">
                <a:buNone/>
                <a:defRPr sz="1000" b="1">
                  <a:solidFill>
                    <a:srgbClr val="1B3A6B"/>
                  </a:solidFill>
                  <a:latin typeface="Calibri" panose="020F0502020204030204" pitchFamily="34" charset="0"/>
                  <a:cs typeface="Calibri" panose="020F0502020204030204" pitchFamily="34" charset="0"/>
                </a:defRPr>
              </a:lvl1pPr>
            </a:lstStyle>
            <a:p>
              <a:r>
                <a:rPr lang="pt-BR" noProof="1"/>
                <a:t>2024  Cruzamento — 1ª vez que IPS supera IDA</a:t>
              </a:r>
            </a:p>
          </p:txBody>
        </p:sp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id="{2C0E9975-5418-8956-16A8-699FF4DB566A}"/>
                </a:ext>
              </a:extLst>
            </p:cNvPr>
            <p:cNvSpPr txBox="1"/>
            <p:nvPr/>
          </p:nvSpPr>
          <p:spPr>
            <a:xfrm>
              <a:off x="5945245" y="3440601"/>
              <a:ext cx="2608007" cy="4867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defPPr>
              <a:lvl1pPr marL="0" indent="0">
                <a:buClr>
                  <a:srgbClr val="64748B"/>
                </a:buClr>
                <a:buSzPts val="950"/>
                <a:buFont typeface="Calibri"/>
                <a:buNone/>
                <a:defRPr sz="950">
                  <a:solidFill>
                    <a:srgbClr val="64748B"/>
                  </a:solidFill>
                  <a:latin typeface="Calibri"/>
                  <a:ea typeface="Calibri"/>
                  <a:cs typeface="Calibri"/>
                </a:defRPr>
              </a:lvl1pPr>
            </a:lstStyle>
            <a:p>
              <a:r>
                <a:rPr lang="pt-BR" noProof="1"/>
                <a:t>Suporte psicossocial funciona. Atenção: IDA em queda lenta nos 3 anos (6,9→6,4) e ainda não reverteu.</a:t>
              </a:r>
            </a:p>
          </p:txBody>
        </p:sp>
      </p:grp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6CC6FE42-59EF-57EC-31A4-BF50EB63905D}"/>
              </a:ext>
            </a:extLst>
          </p:cNvPr>
          <p:cNvGrpSpPr/>
          <p:nvPr/>
        </p:nvGrpSpPr>
        <p:grpSpPr>
          <a:xfrm>
            <a:off x="2699237" y="3617749"/>
            <a:ext cx="4503174" cy="276999"/>
            <a:chOff x="2320413" y="4044082"/>
            <a:chExt cx="4503174" cy="276999"/>
          </a:xfrm>
        </p:grpSpPr>
        <p:grpSp>
          <p:nvGrpSpPr>
            <p:cNvPr id="197" name="Group 196">
              <a:extLst>
                <a:ext uri="{FF2B5EF4-FFF2-40B4-BE49-F238E27FC236}">
                  <a16:creationId xmlns:a16="http://schemas.microsoft.com/office/drawing/2014/main" id="{91D71A02-4C70-0D37-9B70-8808909BFAC2}"/>
                </a:ext>
              </a:extLst>
            </p:cNvPr>
            <p:cNvGrpSpPr/>
            <p:nvPr/>
          </p:nvGrpSpPr>
          <p:grpSpPr>
            <a:xfrm>
              <a:off x="2320413" y="4044082"/>
              <a:ext cx="4503174" cy="276999"/>
              <a:chOff x="4572000" y="1017130"/>
              <a:chExt cx="4503174" cy="276999"/>
            </a:xfrm>
          </p:grpSpPr>
          <p:sp>
            <p:nvSpPr>
              <p:cNvPr id="198" name="Google Shape;255;p12">
                <a:extLst>
                  <a:ext uri="{FF2B5EF4-FFF2-40B4-BE49-F238E27FC236}">
                    <a16:creationId xmlns:a16="http://schemas.microsoft.com/office/drawing/2014/main" id="{EAA5D6D0-FEA4-1607-1120-A8E8CD21CF86}"/>
                  </a:ext>
                </a:extLst>
              </p:cNvPr>
              <p:cNvSpPr/>
              <p:nvPr/>
            </p:nvSpPr>
            <p:spPr>
              <a:xfrm>
                <a:off x="4572000" y="1040169"/>
                <a:ext cx="4503174" cy="250586"/>
              </a:xfrm>
              <a:prstGeom prst="rect">
                <a:avLst/>
              </a:prstGeom>
              <a:solidFill>
                <a:srgbClr val="1B3A6B"/>
              </a:solidFill>
              <a:ln w="12700" cap="flat" cmpd="sng">
                <a:solidFill>
                  <a:srgbClr val="1B3A6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TextBox 198">
                <a:extLst>
                  <a:ext uri="{FF2B5EF4-FFF2-40B4-BE49-F238E27FC236}">
                    <a16:creationId xmlns:a16="http://schemas.microsoft.com/office/drawing/2014/main" id="{DB39EB9C-9380-920C-52D3-DE572F67E6E7}"/>
                  </a:ext>
                </a:extLst>
              </p:cNvPr>
              <p:cNvSpPr txBox="1"/>
              <p:nvPr/>
            </p:nvSpPr>
            <p:spPr>
              <a:xfrm>
                <a:off x="6300037" y="1017130"/>
                <a:ext cx="2376216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pt-BR" sz="1200" b="1" i="0" u="none" strike="noStrike" noProof="1">
                    <a:solidFill>
                      <a:srgbClr val="FFFFFF"/>
                    </a:solidFill>
                    <a:effectLst/>
                    <a:latin typeface="Calibri" panose="020F0502020204030204" pitchFamily="34" charset="0"/>
                  </a:rPr>
                  <a:t>Recomendação</a:t>
                </a:r>
                <a:endParaRPr lang="pt-BR" sz="1200" b="0" noProof="1">
                  <a:effectLst/>
                </a:endParaRPr>
              </a:p>
            </p:txBody>
          </p:sp>
        </p:grpSp>
        <p:pic>
          <p:nvPicPr>
            <p:cNvPr id="202" name="Picture 201">
              <a:extLst>
                <a:ext uri="{FF2B5EF4-FFF2-40B4-BE49-F238E27FC236}">
                  <a16:creationId xmlns:a16="http://schemas.microsoft.com/office/drawing/2014/main" id="{1BFFDE68-935D-88F5-F6ED-7C4B0C2C9CB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3824275" y="4073579"/>
              <a:ext cx="224175" cy="224175"/>
            </a:xfrm>
            <a:prstGeom prst="rect">
              <a:avLst/>
            </a:prstGeom>
          </p:spPr>
        </p:pic>
      </p:grpSp>
      <p:sp>
        <p:nvSpPr>
          <p:cNvPr id="205" name="TextBox 204">
            <a:extLst>
              <a:ext uri="{FF2B5EF4-FFF2-40B4-BE49-F238E27FC236}">
                <a16:creationId xmlns:a16="http://schemas.microsoft.com/office/drawing/2014/main" id="{6537E1FC-9626-0ADA-78D0-06DA985155E8}"/>
              </a:ext>
            </a:extLst>
          </p:cNvPr>
          <p:cNvSpPr txBox="1"/>
          <p:nvPr/>
        </p:nvSpPr>
        <p:spPr>
          <a:xfrm>
            <a:off x="2744591" y="4079581"/>
            <a:ext cx="4576916" cy="388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>
              <a:buClr>
                <a:srgbClr val="64748B"/>
              </a:buClr>
              <a:buSzPts val="950"/>
              <a:buFont typeface="Calibri"/>
              <a:buNone/>
              <a:defRPr sz="95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r>
              <a:rPr lang="pt-BR" sz="1200" noProof="1"/>
              <a:t>Documentar o que reverteu o IPS em 2024 e replicar. Monitorar IDA — ainda em queda lenta.</a:t>
            </a:r>
          </a:p>
        </p:txBody>
      </p:sp>
    </p:spTree>
    <p:extLst>
      <p:ext uri="{BB962C8B-B14F-4D97-AF65-F5344CB8AC3E}">
        <p14:creationId xmlns:p14="http://schemas.microsoft.com/office/powerpoint/2010/main" val="196598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3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 w="12700" cap="flat" cmpd="sng">
            <a:solidFill>
              <a:srgbClr val="1B3A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13"/>
          <p:cNvSpPr/>
          <p:nvPr/>
        </p:nvSpPr>
        <p:spPr>
          <a:xfrm>
            <a:off x="320040" y="73152"/>
            <a:ext cx="85039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pt-BR" sz="1300" b="1" i="0" u="none" strike="noStrike" cap="none" noProof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Aba 3 — Riscos &amp; Virada  | Perfil Multidimensional</a:t>
            </a:r>
            <a:endParaRPr lang="pt-BR" sz="1300" b="0" i="0" u="none" strike="noStrike" cap="none" noProof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08BBCFF-87F6-9AF5-4657-94A7F482A5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28" y="734924"/>
            <a:ext cx="3158613" cy="152570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7257A2E-B8B5-2972-71C7-811D1D9A630A}"/>
              </a:ext>
            </a:extLst>
          </p:cNvPr>
          <p:cNvSpPr txBox="1"/>
          <p:nvPr/>
        </p:nvSpPr>
        <p:spPr>
          <a:xfrm>
            <a:off x="1477468" y="510257"/>
            <a:ext cx="434734" cy="238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buClr>
                <a:srgbClr val="64748B"/>
              </a:buClr>
              <a:buSzPts val="950"/>
              <a:buFont typeface="Calibri"/>
              <a:buNone/>
              <a:defRPr sz="95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r>
              <a:rPr lang="pt-BR" sz="1100" b="1" dirty="0"/>
              <a:t>2022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E739D1-944F-522E-6293-5148CB2DD5F1}"/>
              </a:ext>
            </a:extLst>
          </p:cNvPr>
          <p:cNvSpPr txBox="1"/>
          <p:nvPr/>
        </p:nvSpPr>
        <p:spPr>
          <a:xfrm>
            <a:off x="1477467" y="2333223"/>
            <a:ext cx="434734" cy="238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>
              <a:buClr>
                <a:srgbClr val="64748B"/>
              </a:buClr>
              <a:buSzPts val="950"/>
              <a:buFont typeface="Calibri"/>
              <a:buNone/>
              <a:defRPr sz="95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r>
              <a:rPr lang="pt-BR" sz="1100" b="1" dirty="0"/>
              <a:t>2024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F68479-63C5-B695-AA2F-A163650E0E26}"/>
              </a:ext>
            </a:extLst>
          </p:cNvPr>
          <p:cNvSpPr txBox="1"/>
          <p:nvPr/>
        </p:nvSpPr>
        <p:spPr>
          <a:xfrm>
            <a:off x="4565155" y="513566"/>
            <a:ext cx="434734" cy="238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buClr>
                <a:srgbClr val="64748B"/>
              </a:buClr>
              <a:buSzPts val="950"/>
              <a:buFont typeface="Calibri"/>
              <a:buNone/>
              <a:defRPr sz="95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r>
              <a:rPr lang="pt-BR" sz="1100" b="1" dirty="0"/>
              <a:t>2023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1C3C555-9118-4355-6D1C-1599E3B5D1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528" y="2571750"/>
            <a:ext cx="3214942" cy="153192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C5BC272-F683-A818-3044-6CC2CAC685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6343" y="746865"/>
            <a:ext cx="2712358" cy="1525701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92FC478C-9905-202D-337D-642ED2C96559}"/>
              </a:ext>
            </a:extLst>
          </p:cNvPr>
          <p:cNvGrpSpPr/>
          <p:nvPr/>
        </p:nvGrpSpPr>
        <p:grpSpPr>
          <a:xfrm>
            <a:off x="6252309" y="576072"/>
            <a:ext cx="2815419" cy="1306173"/>
            <a:chOff x="5813527" y="2414446"/>
            <a:chExt cx="2815419" cy="1306173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D86A32C4-80F5-ECE1-E667-1F3381154EA3}"/>
                </a:ext>
              </a:extLst>
            </p:cNvPr>
            <p:cNvGrpSpPr/>
            <p:nvPr/>
          </p:nvGrpSpPr>
          <p:grpSpPr>
            <a:xfrm>
              <a:off x="5813527" y="2414446"/>
              <a:ext cx="2815419" cy="1306173"/>
              <a:chOff x="5813527" y="2414446"/>
              <a:chExt cx="2815419" cy="1306173"/>
            </a:xfrm>
          </p:grpSpPr>
          <p:sp>
            <p:nvSpPr>
              <p:cNvPr id="13" name="Google Shape;155;p7">
                <a:extLst>
                  <a:ext uri="{FF2B5EF4-FFF2-40B4-BE49-F238E27FC236}">
                    <a16:creationId xmlns:a16="http://schemas.microsoft.com/office/drawing/2014/main" id="{79437EEA-2D51-0795-A849-792C1137DE1D}"/>
                  </a:ext>
                </a:extLst>
              </p:cNvPr>
              <p:cNvSpPr/>
              <p:nvPr/>
            </p:nvSpPr>
            <p:spPr>
              <a:xfrm>
                <a:off x="5813527" y="2414446"/>
                <a:ext cx="2814484" cy="1306173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235;p10">
                <a:extLst>
                  <a:ext uri="{FF2B5EF4-FFF2-40B4-BE49-F238E27FC236}">
                    <a16:creationId xmlns:a16="http://schemas.microsoft.com/office/drawing/2014/main" id="{53A36B21-86CF-686A-D209-889D41B22BC9}"/>
                  </a:ext>
                </a:extLst>
              </p:cNvPr>
              <p:cNvSpPr/>
              <p:nvPr/>
            </p:nvSpPr>
            <p:spPr>
              <a:xfrm>
                <a:off x="5821032" y="2424983"/>
                <a:ext cx="2807914" cy="95952"/>
              </a:xfrm>
              <a:prstGeom prst="rect">
                <a:avLst/>
              </a:prstGeom>
              <a:solidFill>
                <a:srgbClr val="ED3337"/>
              </a:solidFill>
              <a:ln w="12700" cap="flat" cmpd="sng">
                <a:solidFill>
                  <a:srgbClr val="ED333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" name="Google Shape;396;p15">
              <a:extLst>
                <a:ext uri="{FF2B5EF4-FFF2-40B4-BE49-F238E27FC236}">
                  <a16:creationId xmlns:a16="http://schemas.microsoft.com/office/drawing/2014/main" id="{43BB77D8-0774-02FA-9F94-39868FDA1926}"/>
                </a:ext>
              </a:extLst>
            </p:cNvPr>
            <p:cNvSpPr/>
            <p:nvPr/>
          </p:nvSpPr>
          <p:spPr>
            <a:xfrm>
              <a:off x="6291171" y="2552277"/>
              <a:ext cx="2259656" cy="3276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B3A6B"/>
                </a:buClr>
                <a:buSzPts val="950"/>
                <a:buFont typeface="Calibri"/>
                <a:buNone/>
              </a:pPr>
              <a:r>
                <a:rPr lang="pt-BR" sz="950" b="1" i="0" u="none" strike="noStrike" cap="none" noProof="1">
                  <a:solidFill>
                    <a:srgbClr val="1B3A6B"/>
                  </a:solidFill>
                  <a:latin typeface="Calibri"/>
                  <a:ea typeface="Calibri"/>
                  <a:cs typeface="Calibri"/>
                  <a:sym typeface="Calibri"/>
                </a:rPr>
                <a:t>IDA é a fraqueza universal — em todos os anos e todas as Pedras</a:t>
              </a:r>
              <a:endParaRPr lang="pt-BR" sz="950" b="0" i="0" u="none" strike="noStrike" cap="none" noProof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77AE6151-2237-48C6-FFBE-E999CF8FD88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prstClr val="black"/>
                <a:srgbClr val="ED3337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colorTemperature colorTemp="11200"/>
                      </a14:imgEffect>
                      <a14:imgEffect>
                        <a14:saturation sat="400000"/>
                      </a14:imgEffect>
                      <a14:imgEffect>
                        <a14:brightnessContrast bright="40000" contrast="2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96788" y="2618167"/>
              <a:ext cx="311122" cy="311122"/>
            </a:xfrm>
            <a:prstGeom prst="rect">
              <a:avLst/>
            </a:prstGeom>
            <a:ln>
              <a:noFill/>
            </a:ln>
          </p:spPr>
        </p:pic>
        <p:sp>
          <p:nvSpPr>
            <p:cNvPr id="18" name="Google Shape;397;p15">
              <a:extLst>
                <a:ext uri="{FF2B5EF4-FFF2-40B4-BE49-F238E27FC236}">
                  <a16:creationId xmlns:a16="http://schemas.microsoft.com/office/drawing/2014/main" id="{226E01A6-FDC5-AADC-295B-9D08D39BA28F}"/>
                </a:ext>
              </a:extLst>
            </p:cNvPr>
            <p:cNvSpPr/>
            <p:nvPr/>
          </p:nvSpPr>
          <p:spPr>
            <a:xfrm>
              <a:off x="6291171" y="2954271"/>
              <a:ext cx="2259655" cy="524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64748B"/>
                </a:buClr>
                <a:buSzPts val="880"/>
                <a:buFont typeface="Calibri"/>
                <a:buNone/>
              </a:pPr>
              <a:r>
                <a:rPr lang="pt-BR" sz="880" b="0" i="0" u="none" strike="noStrike" cap="none" noProof="1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O vale mais profundo é sempre no IDA. Não é problema do Quartzo: é o calcanhar de Aquiles do programa. Todos têm a mesma forma de curva — só em altitudes diferentes.</a:t>
              </a:r>
              <a:endParaRPr lang="pt-BR" sz="880" b="0" i="0" u="none" strike="noStrike" cap="none" noProof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62EF066-D611-D710-D736-2DEA6E9C68CC}"/>
              </a:ext>
            </a:extLst>
          </p:cNvPr>
          <p:cNvGrpSpPr/>
          <p:nvPr/>
        </p:nvGrpSpPr>
        <p:grpSpPr>
          <a:xfrm>
            <a:off x="6252309" y="1964541"/>
            <a:ext cx="2814485" cy="1093292"/>
            <a:chOff x="6252309" y="1964541"/>
            <a:chExt cx="2814485" cy="1093292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6DD346DD-A11E-59DA-8348-5A2C35181677}"/>
                </a:ext>
              </a:extLst>
            </p:cNvPr>
            <p:cNvGrpSpPr/>
            <p:nvPr/>
          </p:nvGrpSpPr>
          <p:grpSpPr>
            <a:xfrm>
              <a:off x="6252309" y="1964541"/>
              <a:ext cx="2814485" cy="1093292"/>
              <a:chOff x="5633115" y="734924"/>
              <a:chExt cx="3593200" cy="855449"/>
            </a:xfrm>
          </p:grpSpPr>
          <p:sp>
            <p:nvSpPr>
              <p:cNvPr id="10" name="Google Shape;152;p7">
                <a:extLst>
                  <a:ext uri="{FF2B5EF4-FFF2-40B4-BE49-F238E27FC236}">
                    <a16:creationId xmlns:a16="http://schemas.microsoft.com/office/drawing/2014/main" id="{64E24A1E-64C1-2974-31F2-7EF6E1F2BB9B}"/>
                  </a:ext>
                </a:extLst>
              </p:cNvPr>
              <p:cNvSpPr/>
              <p:nvPr/>
            </p:nvSpPr>
            <p:spPr>
              <a:xfrm>
                <a:off x="5633115" y="734924"/>
                <a:ext cx="3593200" cy="855449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235;p10">
                <a:extLst>
                  <a:ext uri="{FF2B5EF4-FFF2-40B4-BE49-F238E27FC236}">
                    <a16:creationId xmlns:a16="http://schemas.microsoft.com/office/drawing/2014/main" id="{E1D01A72-903E-352B-F0F8-10288D7763D7}"/>
                  </a:ext>
                </a:extLst>
              </p:cNvPr>
              <p:cNvSpPr/>
              <p:nvPr/>
            </p:nvSpPr>
            <p:spPr>
              <a:xfrm>
                <a:off x="5633115" y="745735"/>
                <a:ext cx="3593199" cy="47930"/>
              </a:xfrm>
              <a:prstGeom prst="rect">
                <a:avLst/>
              </a:prstGeom>
              <a:solidFill>
                <a:srgbClr val="F15936"/>
              </a:solidFill>
              <a:ln w="12700" cap="flat" cmpd="sng">
                <a:solidFill>
                  <a:srgbClr val="F1593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sp>
          <p:nvSpPr>
            <p:cNvPr id="20" name="Google Shape;400;p15">
              <a:extLst>
                <a:ext uri="{FF2B5EF4-FFF2-40B4-BE49-F238E27FC236}">
                  <a16:creationId xmlns:a16="http://schemas.microsoft.com/office/drawing/2014/main" id="{BAFCAC03-1CED-3AC2-0B90-3E38A733EC07}"/>
                </a:ext>
              </a:extLst>
            </p:cNvPr>
            <p:cNvSpPr/>
            <p:nvPr/>
          </p:nvSpPr>
          <p:spPr>
            <a:xfrm>
              <a:off x="6729953" y="2132838"/>
              <a:ext cx="2259655" cy="2452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B3A6B"/>
                </a:buClr>
                <a:buSzPts val="950"/>
                <a:buFont typeface="Calibri"/>
                <a:buNone/>
              </a:pPr>
              <a:r>
                <a:rPr lang="pt-BR" sz="950" b="1" i="0" u="none" strike="noStrike" cap="none" noProof="1">
                  <a:solidFill>
                    <a:srgbClr val="1B3A6B"/>
                  </a:solidFill>
                  <a:latin typeface="Calibri"/>
                  <a:ea typeface="Calibri"/>
                  <a:cs typeface="Calibri"/>
                  <a:sym typeface="Calibri"/>
                </a:rPr>
                <a:t>Em 2023, o IAA do Quartzo colapsou para próximo de zero</a:t>
              </a:r>
              <a:endParaRPr lang="pt-BR" sz="950" b="0" i="0" u="none" strike="noStrike" cap="none" noProof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401;p15">
              <a:extLst>
                <a:ext uri="{FF2B5EF4-FFF2-40B4-BE49-F238E27FC236}">
                  <a16:creationId xmlns:a16="http://schemas.microsoft.com/office/drawing/2014/main" id="{11A83878-3456-A0AD-E801-7212E662259B}"/>
                </a:ext>
              </a:extLst>
            </p:cNvPr>
            <p:cNvSpPr/>
            <p:nvPr/>
          </p:nvSpPr>
          <p:spPr>
            <a:xfrm>
              <a:off x="6729953" y="2452486"/>
              <a:ext cx="2259655" cy="4905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64748B"/>
                </a:buClr>
                <a:buSzPts val="880"/>
                <a:buFont typeface="Calibri"/>
                <a:buNone/>
              </a:pPr>
              <a:r>
                <a:rPr lang="pt-BR" sz="880" b="0" i="0" u="none" strike="noStrike" cap="none" noProof="1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Único em todo o período: a linha do Quartzo despenca no IAA em 2023. O grupo mais vulnerável perdeu a autoestima. Coincide com o colapso do IPS naquele ano.</a:t>
              </a:r>
              <a:endParaRPr lang="pt-BR" sz="880" b="0" i="0" u="none" strike="noStrike" cap="none" noProof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22E952F0-54B4-6443-D8B2-4E30F6597B1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322225" y="2210910"/>
              <a:ext cx="337813" cy="337813"/>
            </a:xfrm>
            <a:prstGeom prst="rect">
              <a:avLst/>
            </a:prstGeom>
          </p:spPr>
        </p:pic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219D38CF-5959-CE2E-EFEC-A98A3060D8F3}"/>
              </a:ext>
            </a:extLst>
          </p:cNvPr>
          <p:cNvGrpSpPr/>
          <p:nvPr/>
        </p:nvGrpSpPr>
        <p:grpSpPr>
          <a:xfrm>
            <a:off x="3400385" y="2342038"/>
            <a:ext cx="2814485" cy="1093292"/>
            <a:chOff x="3400385" y="2342038"/>
            <a:chExt cx="2814485" cy="1093292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0FC1C74D-0125-AA9D-7C2B-B4BD7B73D967}"/>
                </a:ext>
              </a:extLst>
            </p:cNvPr>
            <p:cNvGrpSpPr/>
            <p:nvPr/>
          </p:nvGrpSpPr>
          <p:grpSpPr>
            <a:xfrm>
              <a:off x="3400385" y="2342038"/>
              <a:ext cx="2814485" cy="1093292"/>
              <a:chOff x="6252309" y="1964541"/>
              <a:chExt cx="2814485" cy="1093292"/>
            </a:xfrm>
          </p:grpSpPr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B0B326A4-27AA-BA54-D4D8-6350EB32E6C3}"/>
                  </a:ext>
                </a:extLst>
              </p:cNvPr>
              <p:cNvGrpSpPr/>
              <p:nvPr/>
            </p:nvGrpSpPr>
            <p:grpSpPr>
              <a:xfrm>
                <a:off x="6252309" y="1964541"/>
                <a:ext cx="2814485" cy="1093292"/>
                <a:chOff x="5633115" y="734924"/>
                <a:chExt cx="3593200" cy="855449"/>
              </a:xfrm>
            </p:grpSpPr>
            <p:sp>
              <p:nvSpPr>
                <p:cNvPr id="30" name="Google Shape;152;p7">
                  <a:extLst>
                    <a:ext uri="{FF2B5EF4-FFF2-40B4-BE49-F238E27FC236}">
                      <a16:creationId xmlns:a16="http://schemas.microsoft.com/office/drawing/2014/main" id="{126E3E4C-0957-A879-8F4B-57B9EF960CA4}"/>
                    </a:ext>
                  </a:extLst>
                </p:cNvPr>
                <p:cNvSpPr/>
                <p:nvPr/>
              </p:nvSpPr>
              <p:spPr>
                <a:xfrm>
                  <a:off x="5633115" y="734924"/>
                  <a:ext cx="3593200" cy="855449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>
                  <a:solidFill>
                    <a:srgbClr val="E2E8F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" name="Google Shape;235;p10">
                  <a:extLst>
                    <a:ext uri="{FF2B5EF4-FFF2-40B4-BE49-F238E27FC236}">
                      <a16:creationId xmlns:a16="http://schemas.microsoft.com/office/drawing/2014/main" id="{67D5FE8B-F759-9BF9-322E-1EDF60F25582}"/>
                    </a:ext>
                  </a:extLst>
                </p:cNvPr>
                <p:cNvSpPr/>
                <p:nvPr/>
              </p:nvSpPr>
              <p:spPr>
                <a:xfrm>
                  <a:off x="5633115" y="745735"/>
                  <a:ext cx="3593199" cy="47930"/>
                </a:xfrm>
                <a:prstGeom prst="rect">
                  <a:avLst/>
                </a:prstGeom>
                <a:solidFill>
                  <a:srgbClr val="F15936"/>
                </a:solidFill>
                <a:ln w="12700" cap="flat" cmpd="sng">
                  <a:solidFill>
                    <a:srgbClr val="F1593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</p:grpSp>
          <p:pic>
            <p:nvPicPr>
              <p:cNvPr id="29" name="Picture 28">
                <a:extLst>
                  <a:ext uri="{FF2B5EF4-FFF2-40B4-BE49-F238E27FC236}">
                    <a16:creationId xmlns:a16="http://schemas.microsoft.com/office/drawing/2014/main" id="{BB1311A4-05F9-CBFA-8EFF-E0E3ED2754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322225" y="2210910"/>
                <a:ext cx="337813" cy="337813"/>
              </a:xfrm>
              <a:prstGeom prst="rect">
                <a:avLst/>
              </a:prstGeom>
            </p:spPr>
          </p:pic>
        </p:grpSp>
        <p:sp>
          <p:nvSpPr>
            <p:cNvPr id="32" name="Google Shape;404;p15">
              <a:extLst>
                <a:ext uri="{FF2B5EF4-FFF2-40B4-BE49-F238E27FC236}">
                  <a16:creationId xmlns:a16="http://schemas.microsoft.com/office/drawing/2014/main" id="{1AFEC8A4-A1DA-DFC5-396A-24AA4FDF8C47}"/>
                </a:ext>
              </a:extLst>
            </p:cNvPr>
            <p:cNvSpPr/>
            <p:nvPr/>
          </p:nvSpPr>
          <p:spPr>
            <a:xfrm>
              <a:off x="3808114" y="2504934"/>
              <a:ext cx="2367009" cy="2706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B3A6B"/>
                </a:buClr>
                <a:buSzPts val="950"/>
                <a:buFont typeface="Calibri"/>
                <a:buNone/>
              </a:pPr>
              <a:r>
                <a:rPr lang="pt-BR" sz="950" b="1" i="0" u="none" strike="noStrike" cap="none" noProof="1">
                  <a:solidFill>
                    <a:srgbClr val="1B3A6B"/>
                  </a:solidFill>
                  <a:latin typeface="Calibri"/>
                  <a:ea typeface="Calibri"/>
                  <a:cs typeface="Calibri"/>
                  <a:sym typeface="Calibri"/>
                </a:rPr>
                <a:t>Gap Topázio–Quartzo no IDA persiste nos 3 anos</a:t>
              </a:r>
              <a:endParaRPr lang="pt-BR" sz="950" b="0" i="0" u="none" strike="noStrike" cap="none" noProof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405;p15">
              <a:extLst>
                <a:ext uri="{FF2B5EF4-FFF2-40B4-BE49-F238E27FC236}">
                  <a16:creationId xmlns:a16="http://schemas.microsoft.com/office/drawing/2014/main" id="{F651F118-385D-83BC-95B5-C399F4D05CC1}"/>
                </a:ext>
              </a:extLst>
            </p:cNvPr>
            <p:cNvSpPr/>
            <p:nvPr/>
          </p:nvSpPr>
          <p:spPr>
            <a:xfrm>
              <a:off x="3808114" y="2818402"/>
              <a:ext cx="2367009" cy="5412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64748B"/>
                </a:buClr>
                <a:buSzPts val="880"/>
                <a:buFont typeface="Calibri"/>
                <a:buNone/>
              </a:pPr>
              <a:r>
                <a:rPr lang="pt-BR" sz="880" b="0" i="0" u="none" strike="noStrike" cap="none" noProof="1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A maior distância entre as linhas é sempre no IDA (~6 pts). Desempenho acadêmico é o principal divisor de Pedras. Os outros indicadores se aproximam mais.</a:t>
              </a:r>
              <a:endParaRPr lang="pt-BR" sz="880" b="0" i="0" u="none" strike="noStrike" cap="none" noProof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9CBC48DA-651B-CB3F-3D23-BACD79653287}"/>
              </a:ext>
            </a:extLst>
          </p:cNvPr>
          <p:cNvGrpSpPr/>
          <p:nvPr/>
        </p:nvGrpSpPr>
        <p:grpSpPr>
          <a:xfrm>
            <a:off x="3400384" y="3554546"/>
            <a:ext cx="2814484" cy="1093292"/>
            <a:chOff x="3400384" y="3554546"/>
            <a:chExt cx="2814484" cy="1093292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30F0459D-08F4-5511-7C20-C8193DFE09FE}"/>
                </a:ext>
              </a:extLst>
            </p:cNvPr>
            <p:cNvGrpSpPr/>
            <p:nvPr/>
          </p:nvGrpSpPr>
          <p:grpSpPr>
            <a:xfrm>
              <a:off x="3400384" y="3554546"/>
              <a:ext cx="2814484" cy="1093292"/>
              <a:chOff x="5806440" y="2011679"/>
              <a:chExt cx="2813181" cy="1093292"/>
            </a:xfrm>
          </p:grpSpPr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0F623E18-7C4C-2D34-3A72-2F19B8C88064}"/>
                  </a:ext>
                </a:extLst>
              </p:cNvPr>
              <p:cNvGrpSpPr/>
              <p:nvPr/>
            </p:nvGrpSpPr>
            <p:grpSpPr>
              <a:xfrm>
                <a:off x="5806440" y="2011679"/>
                <a:ext cx="2813181" cy="1093292"/>
                <a:chOff x="5806440" y="2011679"/>
                <a:chExt cx="2813181" cy="1093292"/>
              </a:xfrm>
            </p:grpSpPr>
            <p:sp>
              <p:nvSpPr>
                <p:cNvPr id="40" name="Google Shape;143;p7">
                  <a:extLst>
                    <a:ext uri="{FF2B5EF4-FFF2-40B4-BE49-F238E27FC236}">
                      <a16:creationId xmlns:a16="http://schemas.microsoft.com/office/drawing/2014/main" id="{16C39F88-FF06-B672-1980-988C30193558}"/>
                    </a:ext>
                  </a:extLst>
                </p:cNvPr>
                <p:cNvSpPr/>
                <p:nvPr/>
              </p:nvSpPr>
              <p:spPr>
                <a:xfrm>
                  <a:off x="5806440" y="2011679"/>
                  <a:ext cx="2813181" cy="1093292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>
                  <a:solidFill>
                    <a:srgbClr val="E2E8F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pic>
              <p:nvPicPr>
                <p:cNvPr id="41" name="Picture 40">
                  <a:extLst>
                    <a:ext uri="{FF2B5EF4-FFF2-40B4-BE49-F238E27FC236}">
                      <a16:creationId xmlns:a16="http://schemas.microsoft.com/office/drawing/2014/main" id="{2C6B5701-E86F-D834-890F-E47631B717D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duotone>
                    <a:schemeClr val="accent5">
                      <a:shade val="45000"/>
                      <a:satMod val="135000"/>
                    </a:schemeClr>
                    <a:prstClr val="white"/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10">
                          <a14:imgEffect>
                            <a14:saturation sat="400000"/>
                          </a14:imgEffect>
                        </a14:imgLayer>
                      </a14:imgProps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876991" y="2191183"/>
                  <a:ext cx="347162" cy="347162"/>
                </a:xfrm>
                <a:prstGeom prst="rect">
                  <a:avLst/>
                </a:prstGeom>
              </p:spPr>
            </p:pic>
          </p:grpSp>
          <p:sp>
            <p:nvSpPr>
              <p:cNvPr id="39" name="Google Shape;235;p10">
                <a:extLst>
                  <a:ext uri="{FF2B5EF4-FFF2-40B4-BE49-F238E27FC236}">
                    <a16:creationId xmlns:a16="http://schemas.microsoft.com/office/drawing/2014/main" id="{19CE0836-E713-8A86-73C8-C95A89CDBD36}"/>
                  </a:ext>
                </a:extLst>
              </p:cNvPr>
              <p:cNvSpPr/>
              <p:nvPr/>
            </p:nvSpPr>
            <p:spPr>
              <a:xfrm>
                <a:off x="5816374" y="2021457"/>
                <a:ext cx="2798831" cy="54378"/>
              </a:xfrm>
              <a:prstGeom prst="rect">
                <a:avLst/>
              </a:prstGeom>
              <a:solidFill>
                <a:srgbClr val="2E5FA3"/>
              </a:solidFill>
              <a:ln w="12700" cap="flat" cmpd="sng">
                <a:solidFill>
                  <a:srgbClr val="2E5FA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sp>
          <p:nvSpPr>
            <p:cNvPr id="42" name="Google Shape;408;p15">
              <a:extLst>
                <a:ext uri="{FF2B5EF4-FFF2-40B4-BE49-F238E27FC236}">
                  <a16:creationId xmlns:a16="http://schemas.microsoft.com/office/drawing/2014/main" id="{D6FDE842-9227-7355-FAEF-430221E07A40}"/>
                </a:ext>
              </a:extLst>
            </p:cNvPr>
            <p:cNvSpPr/>
            <p:nvPr/>
          </p:nvSpPr>
          <p:spPr>
            <a:xfrm>
              <a:off x="3888875" y="3703134"/>
              <a:ext cx="2286248" cy="3159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B3A6B"/>
                </a:buClr>
                <a:buSzPts val="950"/>
                <a:buFont typeface="Calibri"/>
                <a:buNone/>
              </a:pPr>
              <a:r>
                <a:rPr lang="pt-BR" sz="950" b="1" i="0" u="none" strike="noStrike" cap="none" noProof="1">
                  <a:solidFill>
                    <a:srgbClr val="1B3A6B"/>
                  </a:solidFill>
                  <a:latin typeface="Calibri"/>
                  <a:ea typeface="Calibri"/>
                  <a:cs typeface="Calibri"/>
                  <a:sym typeface="Calibri"/>
                </a:rPr>
                <a:t>IEG é o mais igualitário — e ficou ainda mais em 2024</a:t>
              </a:r>
              <a:endParaRPr lang="pt-BR" sz="950" b="0" i="0" u="none" strike="noStrike" cap="none" noProof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" name="Google Shape;409;p15">
              <a:extLst>
                <a:ext uri="{FF2B5EF4-FFF2-40B4-BE49-F238E27FC236}">
                  <a16:creationId xmlns:a16="http://schemas.microsoft.com/office/drawing/2014/main" id="{0E8AE6C1-7A4C-5A55-89F0-AB78568FDD2C}"/>
                </a:ext>
              </a:extLst>
            </p:cNvPr>
            <p:cNvSpPr/>
            <p:nvPr/>
          </p:nvSpPr>
          <p:spPr>
            <a:xfrm>
              <a:off x="3888875" y="3998048"/>
              <a:ext cx="2286248" cy="6318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64748B"/>
                </a:buClr>
                <a:buSzPts val="880"/>
                <a:buFont typeface="Calibri"/>
                <a:buNone/>
              </a:pPr>
              <a:r>
                <a:rPr lang="pt-BR" sz="880" b="0" i="0" u="none" strike="noStrike" cap="none" noProof="1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Em 2024 as 4 linhas se comprimem no IEG. Engajamento não é privilégio do Topázio — é o indicador mais democratizado e o mais ligado ao PV.</a:t>
              </a:r>
              <a:endParaRPr lang="pt-BR" sz="880" b="0" i="0" u="none" strike="noStrike" cap="none" noProof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B08E587C-6453-80F1-8163-DCF0C44BE255}"/>
              </a:ext>
            </a:extLst>
          </p:cNvPr>
          <p:cNvGrpSpPr/>
          <p:nvPr/>
        </p:nvGrpSpPr>
        <p:grpSpPr>
          <a:xfrm>
            <a:off x="6259814" y="3187404"/>
            <a:ext cx="2814484" cy="1093292"/>
            <a:chOff x="6259814" y="3187404"/>
            <a:chExt cx="2814484" cy="1093292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A313E1DB-82B2-519A-B479-D7BC26172971}"/>
                </a:ext>
              </a:extLst>
            </p:cNvPr>
            <p:cNvGrpSpPr/>
            <p:nvPr/>
          </p:nvGrpSpPr>
          <p:grpSpPr>
            <a:xfrm>
              <a:off x="6259814" y="3187404"/>
              <a:ext cx="2814484" cy="1093292"/>
              <a:chOff x="5806440" y="2011679"/>
              <a:chExt cx="2813181" cy="1093292"/>
            </a:xfrm>
          </p:grpSpPr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BF348D7E-D7A0-DC6D-76C2-2F49C684E68C}"/>
                  </a:ext>
                </a:extLst>
              </p:cNvPr>
              <p:cNvGrpSpPr/>
              <p:nvPr/>
            </p:nvGrpSpPr>
            <p:grpSpPr>
              <a:xfrm>
                <a:off x="5806440" y="2011679"/>
                <a:ext cx="2813181" cy="1093292"/>
                <a:chOff x="5806440" y="2011679"/>
                <a:chExt cx="2813181" cy="1093292"/>
              </a:xfrm>
            </p:grpSpPr>
            <p:sp>
              <p:nvSpPr>
                <p:cNvPr id="51" name="Google Shape;143;p7">
                  <a:extLst>
                    <a:ext uri="{FF2B5EF4-FFF2-40B4-BE49-F238E27FC236}">
                      <a16:creationId xmlns:a16="http://schemas.microsoft.com/office/drawing/2014/main" id="{6C173092-C3EC-2558-EDD9-0C001A2A5C4B}"/>
                    </a:ext>
                  </a:extLst>
                </p:cNvPr>
                <p:cNvSpPr/>
                <p:nvPr/>
              </p:nvSpPr>
              <p:spPr>
                <a:xfrm>
                  <a:off x="5806440" y="2011679"/>
                  <a:ext cx="2813181" cy="1093292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>
                  <a:solidFill>
                    <a:srgbClr val="E2E8F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B689D67D-12FE-8777-2E39-F77B0E119F9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duotone>
                    <a:schemeClr val="accent5">
                      <a:shade val="45000"/>
                      <a:satMod val="135000"/>
                    </a:schemeClr>
                    <a:prstClr val="white"/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10">
                          <a14:imgEffect>
                            <a14:saturation sat="400000"/>
                          </a14:imgEffect>
                        </a14:imgLayer>
                      </a14:imgProps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876991" y="2191183"/>
                  <a:ext cx="347162" cy="347162"/>
                </a:xfrm>
                <a:prstGeom prst="rect">
                  <a:avLst/>
                </a:prstGeom>
              </p:spPr>
            </p:pic>
          </p:grpSp>
          <p:sp>
            <p:nvSpPr>
              <p:cNvPr id="50" name="Google Shape;235;p10">
                <a:extLst>
                  <a:ext uri="{FF2B5EF4-FFF2-40B4-BE49-F238E27FC236}">
                    <a16:creationId xmlns:a16="http://schemas.microsoft.com/office/drawing/2014/main" id="{7D728016-B415-1164-6DA5-542FB28FB5F0}"/>
                  </a:ext>
                </a:extLst>
              </p:cNvPr>
              <p:cNvSpPr/>
              <p:nvPr/>
            </p:nvSpPr>
            <p:spPr>
              <a:xfrm>
                <a:off x="5816374" y="2021457"/>
                <a:ext cx="2798831" cy="54378"/>
              </a:xfrm>
              <a:prstGeom prst="rect">
                <a:avLst/>
              </a:prstGeom>
              <a:solidFill>
                <a:srgbClr val="2E5FA3"/>
              </a:solidFill>
              <a:ln w="12700" cap="flat" cmpd="sng">
                <a:solidFill>
                  <a:srgbClr val="2E5FA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sp>
          <p:nvSpPr>
            <p:cNvPr id="53" name="Google Shape;412;p15">
              <a:extLst>
                <a:ext uri="{FF2B5EF4-FFF2-40B4-BE49-F238E27FC236}">
                  <a16:creationId xmlns:a16="http://schemas.microsoft.com/office/drawing/2014/main" id="{80DA682C-C6FA-C8B6-FDDF-CB9310FB24EC}"/>
                </a:ext>
              </a:extLst>
            </p:cNvPr>
            <p:cNvSpPr/>
            <p:nvPr/>
          </p:nvSpPr>
          <p:spPr>
            <a:xfrm>
              <a:off x="6729953" y="3358477"/>
              <a:ext cx="2298519" cy="2662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B3A6B"/>
                </a:buClr>
                <a:buSzPts val="950"/>
                <a:buFont typeface="Calibri"/>
                <a:buNone/>
              </a:pPr>
              <a:r>
                <a:rPr lang="pt-BR" sz="950" b="1" i="0" u="none" strike="noStrike" cap="none" noProof="1">
                  <a:solidFill>
                    <a:srgbClr val="1B3A6B"/>
                  </a:solidFill>
                  <a:latin typeface="Calibri"/>
                  <a:ea typeface="Calibri"/>
                  <a:cs typeface="Calibri"/>
                  <a:sym typeface="Calibri"/>
                </a:rPr>
                <a:t>2024: linhas mais comprimidas — estratificação reduzindo</a:t>
              </a:r>
              <a:endParaRPr lang="pt-BR" sz="950" b="0" i="0" u="none" strike="noStrike" cap="none" noProof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413;p15">
              <a:extLst>
                <a:ext uri="{FF2B5EF4-FFF2-40B4-BE49-F238E27FC236}">
                  <a16:creationId xmlns:a16="http://schemas.microsoft.com/office/drawing/2014/main" id="{B2C47DB4-BE43-6E04-9267-7115B39CF9BF}"/>
                </a:ext>
              </a:extLst>
            </p:cNvPr>
            <p:cNvSpPr/>
            <p:nvPr/>
          </p:nvSpPr>
          <p:spPr>
            <a:xfrm>
              <a:off x="6729953" y="3703134"/>
              <a:ext cx="2298519" cy="5325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64748B"/>
                </a:buClr>
                <a:buSzPts val="880"/>
                <a:buFont typeface="Calibri"/>
                <a:buNone/>
              </a:pPr>
              <a:r>
                <a:rPr lang="pt-BR" sz="880" b="0" i="0" u="none" strike="noStrike" cap="none" noProof="1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O programa está aproximando as Pedras. Confirmar: a compressão vem do Quartzo subindo ou do Topázio caindo? A resposta define se é progresso ou estagnação dos melhores.</a:t>
              </a:r>
              <a:endParaRPr lang="pt-BR" sz="880" b="0" i="0" u="none" strike="noStrike" cap="none" noProof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Shape 289">
          <a:extLst>
            <a:ext uri="{FF2B5EF4-FFF2-40B4-BE49-F238E27FC236}">
              <a16:creationId xmlns:a16="http://schemas.microsoft.com/office/drawing/2014/main" id="{3ABA7E26-800E-D7C6-9E8F-003FFA0CE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3">
            <a:extLst>
              <a:ext uri="{FF2B5EF4-FFF2-40B4-BE49-F238E27FC236}">
                <a16:creationId xmlns:a16="http://schemas.microsoft.com/office/drawing/2014/main" id="{F38F1D2B-F1A5-2F68-8CB3-BC5781580F7A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 w="12700" cap="flat" cmpd="sng">
            <a:solidFill>
              <a:srgbClr val="1B3A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13">
            <a:extLst>
              <a:ext uri="{FF2B5EF4-FFF2-40B4-BE49-F238E27FC236}">
                <a16:creationId xmlns:a16="http://schemas.microsoft.com/office/drawing/2014/main" id="{776369E7-C1F3-171B-C122-0ACE44FD32FE}"/>
              </a:ext>
            </a:extLst>
          </p:cNvPr>
          <p:cNvSpPr/>
          <p:nvPr/>
        </p:nvSpPr>
        <p:spPr>
          <a:xfrm>
            <a:off x="320040" y="73152"/>
            <a:ext cx="85039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pt-BR" sz="1300" b="1" i="0" u="none" strike="noStrike" cap="none" noProof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Aba 3 — Riscos &amp; Virada  | Perfil Multidimensional</a:t>
            </a:r>
            <a:endParaRPr lang="pt-BR" sz="1300" b="0" i="0" u="none" strike="noStrike" cap="none" noProof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F58BEA53-BE87-8C2E-EC00-85581B8FA98E}"/>
              </a:ext>
            </a:extLst>
          </p:cNvPr>
          <p:cNvGrpSpPr/>
          <p:nvPr/>
        </p:nvGrpSpPr>
        <p:grpSpPr>
          <a:xfrm>
            <a:off x="2390737" y="1057948"/>
            <a:ext cx="4503174" cy="276999"/>
            <a:chOff x="2320413" y="4044082"/>
            <a:chExt cx="4503174" cy="276999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C5E1A398-4255-2863-DA36-875C9A66F61B}"/>
                </a:ext>
              </a:extLst>
            </p:cNvPr>
            <p:cNvGrpSpPr/>
            <p:nvPr/>
          </p:nvGrpSpPr>
          <p:grpSpPr>
            <a:xfrm>
              <a:off x="2320413" y="4044082"/>
              <a:ext cx="4503174" cy="276999"/>
              <a:chOff x="4572000" y="1017130"/>
              <a:chExt cx="4503174" cy="276999"/>
            </a:xfrm>
          </p:grpSpPr>
          <p:sp>
            <p:nvSpPr>
              <p:cNvPr id="58" name="Google Shape;255;p12">
                <a:extLst>
                  <a:ext uri="{FF2B5EF4-FFF2-40B4-BE49-F238E27FC236}">
                    <a16:creationId xmlns:a16="http://schemas.microsoft.com/office/drawing/2014/main" id="{EE404793-02DF-AF6E-D827-725BE44E6FE0}"/>
                  </a:ext>
                </a:extLst>
              </p:cNvPr>
              <p:cNvSpPr/>
              <p:nvPr/>
            </p:nvSpPr>
            <p:spPr>
              <a:xfrm>
                <a:off x="4572000" y="1040169"/>
                <a:ext cx="4503174" cy="250586"/>
              </a:xfrm>
              <a:prstGeom prst="rect">
                <a:avLst/>
              </a:prstGeom>
              <a:solidFill>
                <a:srgbClr val="1B3A6B"/>
              </a:solidFill>
              <a:ln w="12700" cap="flat" cmpd="sng">
                <a:solidFill>
                  <a:srgbClr val="1B3A6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159128DD-65DF-C698-DDE1-5A156FDC8A48}"/>
                  </a:ext>
                </a:extLst>
              </p:cNvPr>
              <p:cNvSpPr txBox="1"/>
              <p:nvPr/>
            </p:nvSpPr>
            <p:spPr>
              <a:xfrm>
                <a:off x="6300037" y="1017130"/>
                <a:ext cx="2376216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pt-BR" sz="1200" b="1" i="0" u="none" strike="noStrike" noProof="1">
                    <a:solidFill>
                      <a:srgbClr val="FFFFFF"/>
                    </a:solidFill>
                    <a:effectLst/>
                    <a:latin typeface="Calibri" panose="020F0502020204030204" pitchFamily="34" charset="0"/>
                  </a:rPr>
                  <a:t>Recomendações</a:t>
                </a:r>
                <a:endParaRPr lang="pt-BR" sz="1200" b="0" noProof="1">
                  <a:effectLst/>
                </a:endParaRPr>
              </a:p>
            </p:txBody>
          </p:sp>
        </p:grpSp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EB8266C5-AC21-CEAA-E7FF-38E1CA03BB6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3824275" y="4073579"/>
              <a:ext cx="224175" cy="224175"/>
            </a:xfrm>
            <a:prstGeom prst="rect">
              <a:avLst/>
            </a:prstGeom>
          </p:spPr>
        </p:pic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4D480142-0BD3-8A62-704A-987CA70F52C6}"/>
              </a:ext>
            </a:extLst>
          </p:cNvPr>
          <p:cNvGrpSpPr/>
          <p:nvPr/>
        </p:nvGrpSpPr>
        <p:grpSpPr>
          <a:xfrm>
            <a:off x="248758" y="1530928"/>
            <a:ext cx="4226640" cy="738762"/>
            <a:chOff x="2477728" y="1123595"/>
            <a:chExt cx="4226640" cy="738762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E1739457-6FBC-94C2-E26F-B9722E97D3EF}"/>
                </a:ext>
              </a:extLst>
            </p:cNvPr>
            <p:cNvGrpSpPr/>
            <p:nvPr/>
          </p:nvGrpSpPr>
          <p:grpSpPr>
            <a:xfrm>
              <a:off x="2477728" y="1123595"/>
              <a:ext cx="4226640" cy="738762"/>
              <a:chOff x="4748980" y="1552022"/>
              <a:chExt cx="4226640" cy="738762"/>
            </a:xfrm>
          </p:grpSpPr>
          <p:sp>
            <p:nvSpPr>
              <p:cNvPr id="34" name="Google Shape;143;p7">
                <a:extLst>
                  <a:ext uri="{FF2B5EF4-FFF2-40B4-BE49-F238E27FC236}">
                    <a16:creationId xmlns:a16="http://schemas.microsoft.com/office/drawing/2014/main" id="{7C640684-AF38-3310-AF83-550458E08644}"/>
                  </a:ext>
                </a:extLst>
              </p:cNvPr>
              <p:cNvSpPr/>
              <p:nvPr/>
            </p:nvSpPr>
            <p:spPr>
              <a:xfrm>
                <a:off x="4748980" y="1552022"/>
                <a:ext cx="4226640" cy="738762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" name="Google Shape;235;p10">
                <a:extLst>
                  <a:ext uri="{FF2B5EF4-FFF2-40B4-BE49-F238E27FC236}">
                    <a16:creationId xmlns:a16="http://schemas.microsoft.com/office/drawing/2014/main" id="{B72C775F-56FB-5A2E-3F37-7E446A9E37BD}"/>
                  </a:ext>
                </a:extLst>
              </p:cNvPr>
              <p:cNvSpPr/>
              <p:nvPr/>
            </p:nvSpPr>
            <p:spPr>
              <a:xfrm>
                <a:off x="4762486" y="1554616"/>
                <a:ext cx="4199776" cy="58107"/>
              </a:xfrm>
              <a:prstGeom prst="rect">
                <a:avLst/>
              </a:prstGeom>
              <a:solidFill>
                <a:srgbClr val="2E5FA3"/>
              </a:solidFill>
              <a:ln w="12700" cap="flat" cmpd="sng">
                <a:solidFill>
                  <a:srgbClr val="2E5FA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0" name="Google Shape;419;p15">
              <a:extLst>
                <a:ext uri="{FF2B5EF4-FFF2-40B4-BE49-F238E27FC236}">
                  <a16:creationId xmlns:a16="http://schemas.microsoft.com/office/drawing/2014/main" id="{57EDE647-CD17-31A6-48CF-ACA7FE2542E9}"/>
                </a:ext>
              </a:extLst>
            </p:cNvPr>
            <p:cNvSpPr/>
            <p:nvPr/>
          </p:nvSpPr>
          <p:spPr>
            <a:xfrm>
              <a:off x="2668474" y="1240206"/>
              <a:ext cx="3511296" cy="1828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B3A6B"/>
                </a:buClr>
                <a:buSzPts val="900"/>
                <a:buFont typeface="Calibri"/>
                <a:buNone/>
              </a:pPr>
              <a:r>
                <a:rPr lang="pt-BR" sz="900" b="1" i="0" u="none" strike="noStrike" cap="none" noProof="1">
                  <a:solidFill>
                    <a:srgbClr val="1B3A6B"/>
                  </a:solidFill>
                  <a:latin typeface="Calibri"/>
                  <a:ea typeface="Calibri"/>
                  <a:cs typeface="Calibri"/>
                  <a:sym typeface="Calibri"/>
                </a:rPr>
                <a:t>Reforço pedagógico para IDA no Quartzo</a:t>
              </a:r>
              <a:endParaRPr lang="pt-BR" sz="900" b="0" i="0" u="none" strike="noStrike" cap="none" noProof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420;p15">
              <a:extLst>
                <a:ext uri="{FF2B5EF4-FFF2-40B4-BE49-F238E27FC236}">
                  <a16:creationId xmlns:a16="http://schemas.microsoft.com/office/drawing/2014/main" id="{46AA69DA-9C7F-E27E-4C39-51E6C9F8ED7F}"/>
                </a:ext>
              </a:extLst>
            </p:cNvPr>
            <p:cNvSpPr/>
            <p:nvPr/>
          </p:nvSpPr>
          <p:spPr>
            <a:xfrm>
              <a:off x="2668474" y="1450518"/>
              <a:ext cx="3511296" cy="3657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64748B"/>
                </a:buClr>
                <a:buSzPts val="850"/>
                <a:buFont typeface="Calibri"/>
                <a:buNone/>
              </a:pPr>
              <a:r>
                <a:rPr lang="pt-BR" sz="850" b="0" i="0" u="none" strike="noStrike" cap="none" noProof="1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Não é falta de IEG — é dificuldade acadêmica estrutural. Tutoria direcionada em Matemática e Português por fase.</a:t>
              </a:r>
              <a:endParaRPr lang="pt-BR" sz="850" b="0" i="0" u="none" strike="noStrike" cap="none" noProof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3" name="Group 262">
            <a:extLst>
              <a:ext uri="{FF2B5EF4-FFF2-40B4-BE49-F238E27FC236}">
                <a16:creationId xmlns:a16="http://schemas.microsoft.com/office/drawing/2014/main" id="{0BE469B3-A308-8E8F-5252-3F54A43B8A77}"/>
              </a:ext>
            </a:extLst>
          </p:cNvPr>
          <p:cNvGrpSpPr/>
          <p:nvPr/>
        </p:nvGrpSpPr>
        <p:grpSpPr>
          <a:xfrm>
            <a:off x="4666144" y="1530928"/>
            <a:ext cx="4226640" cy="738762"/>
            <a:chOff x="2491234" y="1995134"/>
            <a:chExt cx="4226640" cy="738762"/>
          </a:xfrm>
        </p:grpSpPr>
        <p:grpSp>
          <p:nvGrpSpPr>
            <p:cNvPr id="256" name="Group 255">
              <a:extLst>
                <a:ext uri="{FF2B5EF4-FFF2-40B4-BE49-F238E27FC236}">
                  <a16:creationId xmlns:a16="http://schemas.microsoft.com/office/drawing/2014/main" id="{BCA64618-DF7C-31FE-58BF-5750A919A480}"/>
                </a:ext>
              </a:extLst>
            </p:cNvPr>
            <p:cNvGrpSpPr/>
            <p:nvPr/>
          </p:nvGrpSpPr>
          <p:grpSpPr>
            <a:xfrm>
              <a:off x="2491234" y="1995134"/>
              <a:ext cx="4226640" cy="738762"/>
              <a:chOff x="4748980" y="1552022"/>
              <a:chExt cx="4226640" cy="738762"/>
            </a:xfrm>
          </p:grpSpPr>
          <p:sp>
            <p:nvSpPr>
              <p:cNvPr id="259" name="Google Shape;143;p7">
                <a:extLst>
                  <a:ext uri="{FF2B5EF4-FFF2-40B4-BE49-F238E27FC236}">
                    <a16:creationId xmlns:a16="http://schemas.microsoft.com/office/drawing/2014/main" id="{26706466-0AD1-3DA8-4F0B-CAD5DCE0D78F}"/>
                  </a:ext>
                </a:extLst>
              </p:cNvPr>
              <p:cNvSpPr/>
              <p:nvPr/>
            </p:nvSpPr>
            <p:spPr>
              <a:xfrm>
                <a:off x="4748980" y="1552022"/>
                <a:ext cx="4226640" cy="738762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60" name="Google Shape;235;p10">
                <a:extLst>
                  <a:ext uri="{FF2B5EF4-FFF2-40B4-BE49-F238E27FC236}">
                    <a16:creationId xmlns:a16="http://schemas.microsoft.com/office/drawing/2014/main" id="{9D618E46-35DB-150D-82A9-A7338592F3C5}"/>
                  </a:ext>
                </a:extLst>
              </p:cNvPr>
              <p:cNvSpPr/>
              <p:nvPr/>
            </p:nvSpPr>
            <p:spPr>
              <a:xfrm>
                <a:off x="4762486" y="1554616"/>
                <a:ext cx="4199776" cy="58107"/>
              </a:xfrm>
              <a:prstGeom prst="rect">
                <a:avLst/>
              </a:prstGeom>
              <a:solidFill>
                <a:srgbClr val="2E5FA3"/>
              </a:solidFill>
              <a:ln w="12700" cap="flat" cmpd="sng">
                <a:solidFill>
                  <a:srgbClr val="2E5FA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61" name="Google Shape;424;p15">
              <a:extLst>
                <a:ext uri="{FF2B5EF4-FFF2-40B4-BE49-F238E27FC236}">
                  <a16:creationId xmlns:a16="http://schemas.microsoft.com/office/drawing/2014/main" id="{5347C714-C7DE-DE8E-34F6-4F2F60EF8AB0}"/>
                </a:ext>
              </a:extLst>
            </p:cNvPr>
            <p:cNvSpPr/>
            <p:nvPr/>
          </p:nvSpPr>
          <p:spPr>
            <a:xfrm>
              <a:off x="2668474" y="2096182"/>
              <a:ext cx="3511296" cy="1828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B3A6B"/>
                </a:buClr>
                <a:buSzPts val="900"/>
                <a:buFont typeface="Calibri"/>
                <a:buNone/>
              </a:pPr>
              <a:r>
                <a:rPr lang="pt-BR" sz="900" b="1" i="0" u="none" strike="noStrike" cap="none" noProof="1">
                  <a:solidFill>
                    <a:srgbClr val="1B3A6B"/>
                  </a:solidFill>
                  <a:latin typeface="Calibri"/>
                  <a:ea typeface="Calibri"/>
                  <a:cs typeface="Calibri"/>
                  <a:sym typeface="Calibri"/>
                </a:rPr>
                <a:t>Investigar o colapso do IAA do Quartzo em 2023</a:t>
              </a:r>
              <a:endParaRPr lang="pt-BR" sz="900" b="0" i="0" u="none" strike="noStrike" cap="none" noProof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" name="Google Shape;425;p15">
              <a:extLst>
                <a:ext uri="{FF2B5EF4-FFF2-40B4-BE49-F238E27FC236}">
                  <a16:creationId xmlns:a16="http://schemas.microsoft.com/office/drawing/2014/main" id="{EB7F1C33-FD4C-64C9-91B0-DE508AEDE66B}"/>
                </a:ext>
              </a:extLst>
            </p:cNvPr>
            <p:cNvSpPr/>
            <p:nvPr/>
          </p:nvSpPr>
          <p:spPr>
            <a:xfrm>
              <a:off x="2668474" y="2306494"/>
              <a:ext cx="3511296" cy="3657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64748B"/>
                </a:buClr>
                <a:buSzPts val="850"/>
                <a:buFont typeface="Calibri"/>
                <a:buNone/>
              </a:pPr>
              <a:r>
                <a:rPr lang="pt-BR" sz="850" b="0" i="0" u="none" strike="noStrike" cap="none" noProof="1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O que derrubou a autoestima desse grupo? Evento externo, metodologia ou crise familiar? A resposta orienta a intervenção.</a:t>
              </a:r>
              <a:endParaRPr lang="pt-BR" sz="850" b="0" i="0" u="none" strike="noStrike" cap="none" noProof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4" name="Group 283">
            <a:extLst>
              <a:ext uri="{FF2B5EF4-FFF2-40B4-BE49-F238E27FC236}">
                <a16:creationId xmlns:a16="http://schemas.microsoft.com/office/drawing/2014/main" id="{57538846-0424-237B-DD88-5B1358A7D1BD}"/>
              </a:ext>
            </a:extLst>
          </p:cNvPr>
          <p:cNvGrpSpPr/>
          <p:nvPr/>
        </p:nvGrpSpPr>
        <p:grpSpPr>
          <a:xfrm>
            <a:off x="248758" y="2405462"/>
            <a:ext cx="4226640" cy="738762"/>
            <a:chOff x="248758" y="2405462"/>
            <a:chExt cx="4226640" cy="738762"/>
          </a:xfrm>
        </p:grpSpPr>
        <p:grpSp>
          <p:nvGrpSpPr>
            <p:cNvPr id="265" name="Group 264">
              <a:extLst>
                <a:ext uri="{FF2B5EF4-FFF2-40B4-BE49-F238E27FC236}">
                  <a16:creationId xmlns:a16="http://schemas.microsoft.com/office/drawing/2014/main" id="{DE363382-6125-8FE2-47AA-1EE9C62FBCAB}"/>
                </a:ext>
              </a:extLst>
            </p:cNvPr>
            <p:cNvGrpSpPr/>
            <p:nvPr/>
          </p:nvGrpSpPr>
          <p:grpSpPr>
            <a:xfrm>
              <a:off x="248758" y="2405462"/>
              <a:ext cx="4226640" cy="738762"/>
              <a:chOff x="4748980" y="1552022"/>
              <a:chExt cx="4226640" cy="738762"/>
            </a:xfrm>
          </p:grpSpPr>
          <p:sp>
            <p:nvSpPr>
              <p:cNvPr id="268" name="Google Shape;143;p7">
                <a:extLst>
                  <a:ext uri="{FF2B5EF4-FFF2-40B4-BE49-F238E27FC236}">
                    <a16:creationId xmlns:a16="http://schemas.microsoft.com/office/drawing/2014/main" id="{4E36163C-8AC3-64BE-401C-39016283955A}"/>
                  </a:ext>
                </a:extLst>
              </p:cNvPr>
              <p:cNvSpPr/>
              <p:nvPr/>
            </p:nvSpPr>
            <p:spPr>
              <a:xfrm>
                <a:off x="4748980" y="1552022"/>
                <a:ext cx="4226640" cy="738762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69" name="Google Shape;235;p10">
                <a:extLst>
                  <a:ext uri="{FF2B5EF4-FFF2-40B4-BE49-F238E27FC236}">
                    <a16:creationId xmlns:a16="http://schemas.microsoft.com/office/drawing/2014/main" id="{D123EFAF-2031-9E53-F2A0-3A6D6CE87D1B}"/>
                  </a:ext>
                </a:extLst>
              </p:cNvPr>
              <p:cNvSpPr/>
              <p:nvPr/>
            </p:nvSpPr>
            <p:spPr>
              <a:xfrm>
                <a:off x="4762486" y="1554616"/>
                <a:ext cx="4199776" cy="58107"/>
              </a:xfrm>
              <a:prstGeom prst="rect">
                <a:avLst/>
              </a:prstGeom>
              <a:solidFill>
                <a:srgbClr val="2E5FA3"/>
              </a:solidFill>
              <a:ln w="12700" cap="flat" cmpd="sng">
                <a:solidFill>
                  <a:srgbClr val="2E5FA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82" name="Google Shape;429;p15">
              <a:extLst>
                <a:ext uri="{FF2B5EF4-FFF2-40B4-BE49-F238E27FC236}">
                  <a16:creationId xmlns:a16="http://schemas.microsoft.com/office/drawing/2014/main" id="{320660B1-424C-BE3A-08F1-162906865428}"/>
                </a:ext>
              </a:extLst>
            </p:cNvPr>
            <p:cNvSpPr/>
            <p:nvPr/>
          </p:nvSpPr>
          <p:spPr>
            <a:xfrm>
              <a:off x="439504" y="2533594"/>
              <a:ext cx="3511296" cy="1828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B3A6B"/>
                </a:buClr>
                <a:buSzPts val="900"/>
                <a:buFont typeface="Calibri"/>
                <a:buNone/>
              </a:pPr>
              <a:r>
                <a:rPr lang="pt-BR" sz="900" b="1" i="0" u="none" strike="noStrike" cap="none" noProof="1">
                  <a:solidFill>
                    <a:srgbClr val="1B3A6B"/>
                  </a:solidFill>
                  <a:latin typeface="Calibri"/>
                  <a:ea typeface="Calibri"/>
                  <a:cs typeface="Calibri"/>
                  <a:sym typeface="Calibri"/>
                </a:rPr>
                <a:t>Converter IEG em IDA no Quartzo</a:t>
              </a:r>
              <a:endParaRPr lang="pt-BR" sz="900" b="0" i="0" u="none" strike="noStrike" cap="none" noProof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" name="Google Shape;430;p15">
              <a:extLst>
                <a:ext uri="{FF2B5EF4-FFF2-40B4-BE49-F238E27FC236}">
                  <a16:creationId xmlns:a16="http://schemas.microsoft.com/office/drawing/2014/main" id="{F47CA9E5-AE29-17C4-06BD-72A41E222B55}"/>
                </a:ext>
              </a:extLst>
            </p:cNvPr>
            <p:cNvSpPr/>
            <p:nvPr/>
          </p:nvSpPr>
          <p:spPr>
            <a:xfrm>
              <a:off x="439504" y="2743906"/>
              <a:ext cx="3511296" cy="3657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64748B"/>
                </a:buClr>
                <a:buSzPts val="850"/>
                <a:buFont typeface="Calibri"/>
                <a:buNone/>
              </a:pPr>
              <a:r>
                <a:rPr lang="pt-BR" sz="850" b="0" i="0" u="none" strike="noStrike" cap="none" noProof="1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Eles têm engajamento — falta resultado. Criar atividades que transformem participação em entrega acadêmica concreta.</a:t>
              </a:r>
              <a:endParaRPr lang="pt-BR" sz="850" b="0" i="0" u="none" strike="noStrike" cap="none" noProof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3" name="Group 292">
            <a:extLst>
              <a:ext uri="{FF2B5EF4-FFF2-40B4-BE49-F238E27FC236}">
                <a16:creationId xmlns:a16="http://schemas.microsoft.com/office/drawing/2014/main" id="{771C1C31-3FE7-802F-D980-7459A4414263}"/>
              </a:ext>
            </a:extLst>
          </p:cNvPr>
          <p:cNvGrpSpPr/>
          <p:nvPr/>
        </p:nvGrpSpPr>
        <p:grpSpPr>
          <a:xfrm>
            <a:off x="4666144" y="2405462"/>
            <a:ext cx="4226640" cy="738762"/>
            <a:chOff x="4648596" y="2437109"/>
            <a:chExt cx="4226640" cy="738762"/>
          </a:xfrm>
        </p:grpSpPr>
        <p:grpSp>
          <p:nvGrpSpPr>
            <p:cNvPr id="271" name="Group 270">
              <a:extLst>
                <a:ext uri="{FF2B5EF4-FFF2-40B4-BE49-F238E27FC236}">
                  <a16:creationId xmlns:a16="http://schemas.microsoft.com/office/drawing/2014/main" id="{CCA22064-502C-2D76-E0ED-295E2780CE3A}"/>
                </a:ext>
              </a:extLst>
            </p:cNvPr>
            <p:cNvGrpSpPr/>
            <p:nvPr/>
          </p:nvGrpSpPr>
          <p:grpSpPr>
            <a:xfrm>
              <a:off x="4648596" y="2437109"/>
              <a:ext cx="4226640" cy="738762"/>
              <a:chOff x="4748980" y="1552022"/>
              <a:chExt cx="4226640" cy="738762"/>
            </a:xfrm>
          </p:grpSpPr>
          <p:sp>
            <p:nvSpPr>
              <p:cNvPr id="274" name="Google Shape;143;p7">
                <a:extLst>
                  <a:ext uri="{FF2B5EF4-FFF2-40B4-BE49-F238E27FC236}">
                    <a16:creationId xmlns:a16="http://schemas.microsoft.com/office/drawing/2014/main" id="{4AB4A48F-0A39-C1B1-C7D0-86CB1A06CA42}"/>
                  </a:ext>
                </a:extLst>
              </p:cNvPr>
              <p:cNvSpPr/>
              <p:nvPr/>
            </p:nvSpPr>
            <p:spPr>
              <a:xfrm>
                <a:off x="4748980" y="1552022"/>
                <a:ext cx="4226640" cy="738762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75" name="Google Shape;235;p10">
                <a:extLst>
                  <a:ext uri="{FF2B5EF4-FFF2-40B4-BE49-F238E27FC236}">
                    <a16:creationId xmlns:a16="http://schemas.microsoft.com/office/drawing/2014/main" id="{1F4D7395-044E-1B26-F63A-B39E3D170448}"/>
                  </a:ext>
                </a:extLst>
              </p:cNvPr>
              <p:cNvSpPr/>
              <p:nvPr/>
            </p:nvSpPr>
            <p:spPr>
              <a:xfrm>
                <a:off x="4762486" y="1554616"/>
                <a:ext cx="4199776" cy="58107"/>
              </a:xfrm>
              <a:prstGeom prst="rect">
                <a:avLst/>
              </a:prstGeom>
              <a:solidFill>
                <a:srgbClr val="2E5FA3"/>
              </a:solidFill>
              <a:ln w="12700" cap="flat" cmpd="sng">
                <a:solidFill>
                  <a:srgbClr val="2E5FA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2" name="Group 291">
              <a:extLst>
                <a:ext uri="{FF2B5EF4-FFF2-40B4-BE49-F238E27FC236}">
                  <a16:creationId xmlns:a16="http://schemas.microsoft.com/office/drawing/2014/main" id="{6CB27E86-497D-930F-F1CE-C5ED5827422B}"/>
                </a:ext>
              </a:extLst>
            </p:cNvPr>
            <p:cNvGrpSpPr/>
            <p:nvPr/>
          </p:nvGrpSpPr>
          <p:grpSpPr>
            <a:xfrm>
              <a:off x="4843384" y="2568152"/>
              <a:ext cx="3511296" cy="576072"/>
              <a:chOff x="4843384" y="2568152"/>
              <a:chExt cx="3511296" cy="576072"/>
            </a:xfrm>
          </p:grpSpPr>
          <p:sp>
            <p:nvSpPr>
              <p:cNvPr id="285" name="Google Shape;434;p15">
                <a:extLst>
                  <a:ext uri="{FF2B5EF4-FFF2-40B4-BE49-F238E27FC236}">
                    <a16:creationId xmlns:a16="http://schemas.microsoft.com/office/drawing/2014/main" id="{79B72B8F-C90D-1A2C-8C94-B100E288D530}"/>
                  </a:ext>
                </a:extLst>
              </p:cNvPr>
              <p:cNvSpPr/>
              <p:nvPr/>
            </p:nvSpPr>
            <p:spPr>
              <a:xfrm>
                <a:off x="4843384" y="2568152"/>
                <a:ext cx="3511296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1B3A6B"/>
                  </a:buClr>
                  <a:buSzPts val="900"/>
                  <a:buFont typeface="Calibri"/>
                  <a:buNone/>
                </a:pPr>
                <a:r>
                  <a:rPr lang="pt-BR" sz="900" b="1" i="0" u="none" strike="noStrike" cap="none" noProof="1">
                    <a:solidFill>
                      <a:srgbClr val="1B3A6B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Replicar o que diferencia o Topázio no IDA</a:t>
                </a:r>
                <a:endParaRPr lang="pt-BR" sz="900" b="0" i="0" u="none" strike="noStrike" cap="none" noProof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" name="Google Shape;435;p15">
                <a:extLst>
                  <a:ext uri="{FF2B5EF4-FFF2-40B4-BE49-F238E27FC236}">
                    <a16:creationId xmlns:a16="http://schemas.microsoft.com/office/drawing/2014/main" id="{3B8BD45F-3B9B-71BA-5550-D3A73BFDDC51}"/>
                  </a:ext>
                </a:extLst>
              </p:cNvPr>
              <p:cNvSpPr/>
              <p:nvPr/>
            </p:nvSpPr>
            <p:spPr>
              <a:xfrm>
                <a:off x="4843384" y="2778464"/>
                <a:ext cx="3511296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64748B"/>
                  </a:buClr>
                  <a:buSzPts val="850"/>
                  <a:buFont typeface="Calibri"/>
                  <a:buNone/>
                </a:pPr>
                <a:r>
                  <a:rPr lang="pt-BR" sz="850" b="0" i="0" u="none" strike="noStrike" cap="none" noProof="1">
                    <a:solidFill>
                      <a:srgbClr val="64748B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O Topázio tem o menor vale relativo. O que esse grupo faz diferente academicamente que os outros ainda não fazem?</a:t>
                </a:r>
                <a:endParaRPr lang="pt-BR" sz="850" b="0" i="0" u="none" strike="noStrike" cap="none" noProof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89" name="Group 288">
            <a:extLst>
              <a:ext uri="{FF2B5EF4-FFF2-40B4-BE49-F238E27FC236}">
                <a16:creationId xmlns:a16="http://schemas.microsoft.com/office/drawing/2014/main" id="{3F23AEE8-E398-D574-7C72-F47D18274772}"/>
              </a:ext>
            </a:extLst>
          </p:cNvPr>
          <p:cNvGrpSpPr/>
          <p:nvPr/>
        </p:nvGrpSpPr>
        <p:grpSpPr>
          <a:xfrm>
            <a:off x="2509956" y="3332164"/>
            <a:ext cx="4226640" cy="738762"/>
            <a:chOff x="2509956" y="3332164"/>
            <a:chExt cx="4226640" cy="738762"/>
          </a:xfrm>
        </p:grpSpPr>
        <p:grpSp>
          <p:nvGrpSpPr>
            <p:cNvPr id="277" name="Group 276">
              <a:extLst>
                <a:ext uri="{FF2B5EF4-FFF2-40B4-BE49-F238E27FC236}">
                  <a16:creationId xmlns:a16="http://schemas.microsoft.com/office/drawing/2014/main" id="{9A662CC0-EFEA-9DDC-A285-A14D3CD087C2}"/>
                </a:ext>
              </a:extLst>
            </p:cNvPr>
            <p:cNvGrpSpPr/>
            <p:nvPr/>
          </p:nvGrpSpPr>
          <p:grpSpPr>
            <a:xfrm>
              <a:off x="2509956" y="3332164"/>
              <a:ext cx="4226640" cy="738762"/>
              <a:chOff x="4748980" y="1552022"/>
              <a:chExt cx="4226640" cy="738762"/>
            </a:xfrm>
          </p:grpSpPr>
          <p:sp>
            <p:nvSpPr>
              <p:cNvPr id="280" name="Google Shape;143;p7">
                <a:extLst>
                  <a:ext uri="{FF2B5EF4-FFF2-40B4-BE49-F238E27FC236}">
                    <a16:creationId xmlns:a16="http://schemas.microsoft.com/office/drawing/2014/main" id="{268B59B8-2CB7-D831-736D-FB99AF0E613F}"/>
                  </a:ext>
                </a:extLst>
              </p:cNvPr>
              <p:cNvSpPr/>
              <p:nvPr/>
            </p:nvSpPr>
            <p:spPr>
              <a:xfrm>
                <a:off x="4748980" y="1552022"/>
                <a:ext cx="4226640" cy="738762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81" name="Google Shape;235;p10">
                <a:extLst>
                  <a:ext uri="{FF2B5EF4-FFF2-40B4-BE49-F238E27FC236}">
                    <a16:creationId xmlns:a16="http://schemas.microsoft.com/office/drawing/2014/main" id="{696F683C-D919-A9AB-7EBC-0C7B71FB18F0}"/>
                  </a:ext>
                </a:extLst>
              </p:cNvPr>
              <p:cNvSpPr/>
              <p:nvPr/>
            </p:nvSpPr>
            <p:spPr>
              <a:xfrm>
                <a:off x="4762486" y="1554616"/>
                <a:ext cx="4199776" cy="58107"/>
              </a:xfrm>
              <a:prstGeom prst="rect">
                <a:avLst/>
              </a:prstGeom>
              <a:solidFill>
                <a:srgbClr val="2E5FA3"/>
              </a:solidFill>
              <a:ln w="12700" cap="flat" cmpd="sng">
                <a:solidFill>
                  <a:srgbClr val="2E5FA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87" name="Google Shape;439;p15">
              <a:extLst>
                <a:ext uri="{FF2B5EF4-FFF2-40B4-BE49-F238E27FC236}">
                  <a16:creationId xmlns:a16="http://schemas.microsoft.com/office/drawing/2014/main" id="{ACFE68B5-C2DE-408D-74CE-545B055CDA96}"/>
                </a:ext>
              </a:extLst>
            </p:cNvPr>
            <p:cNvSpPr/>
            <p:nvPr/>
          </p:nvSpPr>
          <p:spPr>
            <a:xfrm>
              <a:off x="2719750" y="3443859"/>
              <a:ext cx="3511296" cy="1828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B3A6B"/>
                </a:buClr>
                <a:buSzPts val="900"/>
                <a:buFont typeface="Calibri"/>
                <a:buNone/>
              </a:pPr>
              <a:r>
                <a:rPr lang="pt-BR" sz="900" b="1" i="0" u="none" strike="noStrike" cap="none" noProof="1">
                  <a:solidFill>
                    <a:srgbClr val="1B3A6B"/>
                  </a:solidFill>
                  <a:latin typeface="Calibri"/>
                  <a:ea typeface="Calibri"/>
                  <a:cs typeface="Calibri"/>
                  <a:sym typeface="Calibri"/>
                </a:rPr>
                <a:t>Monitorar a compressão de 2024</a:t>
              </a:r>
              <a:endParaRPr lang="pt-BR" sz="900" b="0" i="0" u="none" strike="noStrike" cap="none" noProof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" name="Google Shape;440;p15">
              <a:extLst>
                <a:ext uri="{FF2B5EF4-FFF2-40B4-BE49-F238E27FC236}">
                  <a16:creationId xmlns:a16="http://schemas.microsoft.com/office/drawing/2014/main" id="{B69EB49D-2737-C59B-0BEB-E0F7246B81E3}"/>
                </a:ext>
              </a:extLst>
            </p:cNvPr>
            <p:cNvSpPr/>
            <p:nvPr/>
          </p:nvSpPr>
          <p:spPr>
            <a:xfrm>
              <a:off x="2719750" y="3654171"/>
              <a:ext cx="3511296" cy="3657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64748B"/>
                </a:buClr>
                <a:buSzPts val="850"/>
                <a:buFont typeface="Calibri"/>
                <a:buNone/>
              </a:pPr>
              <a:r>
                <a:rPr lang="pt-BR" sz="850" b="0" i="0" u="none" strike="noStrike" cap="none" noProof="1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Verificar se Topázio e Ágata mantêm patamar enquanto Quartzo sobe — ou se a aproximação das linhas esconde uma queda dos melhores.</a:t>
              </a:r>
              <a:endParaRPr lang="pt-BR" sz="850" b="0" i="0" u="none" strike="noStrike" cap="none" noProof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69255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>
          <a:extLst>
            <a:ext uri="{FF2B5EF4-FFF2-40B4-BE49-F238E27FC236}">
              <a16:creationId xmlns:a16="http://schemas.microsoft.com/office/drawing/2014/main" id="{0F396FCE-9B09-6C2B-2FAA-B66CFB3B9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1">
            <a:extLst>
              <a:ext uri="{FF2B5EF4-FFF2-40B4-BE49-F238E27FC236}">
                <a16:creationId xmlns:a16="http://schemas.microsoft.com/office/drawing/2014/main" id="{ED6276AF-DBB9-3951-7268-9E8730FCB2F8}"/>
              </a:ext>
            </a:extLst>
          </p:cNvPr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D3337"/>
          </a:solidFill>
          <a:ln w="12700" cap="flat" cmpd="sng">
            <a:solidFill>
              <a:srgbClr val="ED333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11">
            <a:extLst>
              <a:ext uri="{FF2B5EF4-FFF2-40B4-BE49-F238E27FC236}">
                <a16:creationId xmlns:a16="http://schemas.microsoft.com/office/drawing/2014/main" id="{C1999B0A-76E3-2EBB-9591-98BED71ADE6B}"/>
              </a:ext>
            </a:extLst>
          </p:cNvPr>
          <p:cNvSpPr/>
          <p:nvPr/>
        </p:nvSpPr>
        <p:spPr>
          <a:xfrm>
            <a:off x="73152" y="0"/>
            <a:ext cx="9070848" cy="5143500"/>
          </a:xfrm>
          <a:prstGeom prst="rect">
            <a:avLst/>
          </a:prstGeom>
          <a:solidFill>
            <a:srgbClr val="0F2344"/>
          </a:solidFill>
          <a:ln w="12700" cap="flat" cmpd="sng">
            <a:solidFill>
              <a:srgbClr val="0F23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11">
            <a:extLst>
              <a:ext uri="{FF2B5EF4-FFF2-40B4-BE49-F238E27FC236}">
                <a16:creationId xmlns:a16="http://schemas.microsoft.com/office/drawing/2014/main" id="{5F82DCFB-4ED0-7F41-2C8D-E49540AD5330}"/>
              </a:ext>
            </a:extLst>
          </p:cNvPr>
          <p:cNvSpPr/>
          <p:nvPr/>
        </p:nvSpPr>
        <p:spPr>
          <a:xfrm>
            <a:off x="914400" y="2072642"/>
            <a:ext cx="109728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06C1A"/>
              </a:buClr>
              <a:buSzPts val="6400"/>
              <a:buFont typeface="Calibri"/>
              <a:buNone/>
            </a:pPr>
            <a:r>
              <a:rPr lang="en-US" sz="6400" b="1" i="0" u="none" strike="noStrike" cap="none" dirty="0">
                <a:solidFill>
                  <a:srgbClr val="ED3337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6400" b="0" i="0" u="none" strike="noStrike" cap="none" dirty="0">
              <a:solidFill>
                <a:srgbClr val="ED33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1">
            <a:extLst>
              <a:ext uri="{FF2B5EF4-FFF2-40B4-BE49-F238E27FC236}">
                <a16:creationId xmlns:a16="http://schemas.microsoft.com/office/drawing/2014/main" id="{4AF38046-A3A2-F64F-D94D-C8626107419C}"/>
              </a:ext>
            </a:extLst>
          </p:cNvPr>
          <p:cNvSpPr/>
          <p:nvPr/>
        </p:nvSpPr>
        <p:spPr>
          <a:xfrm>
            <a:off x="2194560" y="2346962"/>
            <a:ext cx="65836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lang="pt-BR" sz="3000" b="1" noProof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Conclusões e Próximos Passos</a:t>
            </a:r>
            <a:endParaRPr lang="pt-BR" sz="3000" b="0" i="0" u="none" strike="noStrike" cap="none" noProof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017829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>
          <a:extLst>
            <a:ext uri="{FF2B5EF4-FFF2-40B4-BE49-F238E27FC236}">
              <a16:creationId xmlns:a16="http://schemas.microsoft.com/office/drawing/2014/main" id="{F5685470-43DC-FED1-00EE-31026F9ED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3">
            <a:extLst>
              <a:ext uri="{FF2B5EF4-FFF2-40B4-BE49-F238E27FC236}">
                <a16:creationId xmlns:a16="http://schemas.microsoft.com/office/drawing/2014/main" id="{05ADA9E6-54E1-433C-F2CD-77DB35C18DFE}"/>
              </a:ext>
            </a:extLst>
          </p:cNvPr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 w="12700" cap="flat" cmpd="sng">
            <a:solidFill>
              <a:srgbClr val="1B3A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13">
            <a:extLst>
              <a:ext uri="{FF2B5EF4-FFF2-40B4-BE49-F238E27FC236}">
                <a16:creationId xmlns:a16="http://schemas.microsoft.com/office/drawing/2014/main" id="{B1455B61-D674-9261-5D87-B0BA5A267F31}"/>
              </a:ext>
            </a:extLst>
          </p:cNvPr>
          <p:cNvSpPr/>
          <p:nvPr/>
        </p:nvSpPr>
        <p:spPr>
          <a:xfrm>
            <a:off x="320040" y="73152"/>
            <a:ext cx="85039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pt-BR" sz="1300" b="1" i="0" u="none" strike="noStrike" cap="none" noProof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Conclusões e Próximos Passos</a:t>
            </a:r>
            <a:endParaRPr lang="pt-BR" sz="1300" b="0" i="0" u="none" strike="noStrike" cap="none" noProof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9" name="Group 278">
            <a:extLst>
              <a:ext uri="{FF2B5EF4-FFF2-40B4-BE49-F238E27FC236}">
                <a16:creationId xmlns:a16="http://schemas.microsoft.com/office/drawing/2014/main" id="{076FBDAF-AD80-DCE8-7642-7447E2A98530}"/>
              </a:ext>
            </a:extLst>
          </p:cNvPr>
          <p:cNvGrpSpPr/>
          <p:nvPr/>
        </p:nvGrpSpPr>
        <p:grpSpPr>
          <a:xfrm>
            <a:off x="131312" y="926399"/>
            <a:ext cx="4746866" cy="777626"/>
            <a:chOff x="131312" y="926399"/>
            <a:chExt cx="4746866" cy="777626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B8365A6D-DBF3-1760-33E9-492D44975172}"/>
                </a:ext>
              </a:extLst>
            </p:cNvPr>
            <p:cNvGrpSpPr/>
            <p:nvPr/>
          </p:nvGrpSpPr>
          <p:grpSpPr>
            <a:xfrm>
              <a:off x="131312" y="926399"/>
              <a:ext cx="4746866" cy="777626"/>
              <a:chOff x="4748980" y="1552022"/>
              <a:chExt cx="4226640" cy="738762"/>
            </a:xfrm>
          </p:grpSpPr>
          <p:sp>
            <p:nvSpPr>
              <p:cNvPr id="34" name="Google Shape;143;p7">
                <a:extLst>
                  <a:ext uri="{FF2B5EF4-FFF2-40B4-BE49-F238E27FC236}">
                    <a16:creationId xmlns:a16="http://schemas.microsoft.com/office/drawing/2014/main" id="{E5C4284D-DEFE-585E-01B2-145A53441BD3}"/>
                  </a:ext>
                </a:extLst>
              </p:cNvPr>
              <p:cNvSpPr/>
              <p:nvPr/>
            </p:nvSpPr>
            <p:spPr>
              <a:xfrm>
                <a:off x="4748980" y="1552022"/>
                <a:ext cx="4226640" cy="738762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" name="Google Shape;235;p10">
                <a:extLst>
                  <a:ext uri="{FF2B5EF4-FFF2-40B4-BE49-F238E27FC236}">
                    <a16:creationId xmlns:a16="http://schemas.microsoft.com/office/drawing/2014/main" id="{BE3D01C8-0FA4-2B81-61BB-9E71CD24FFCE}"/>
                  </a:ext>
                </a:extLst>
              </p:cNvPr>
              <p:cNvSpPr/>
              <p:nvPr/>
            </p:nvSpPr>
            <p:spPr>
              <a:xfrm>
                <a:off x="4762486" y="1554616"/>
                <a:ext cx="4199776" cy="58107"/>
              </a:xfrm>
              <a:prstGeom prst="rect">
                <a:avLst/>
              </a:prstGeom>
              <a:solidFill>
                <a:srgbClr val="2E5FA3"/>
              </a:solidFill>
              <a:ln w="12700" cap="flat" cmpd="sng">
                <a:solidFill>
                  <a:srgbClr val="2E5FA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57" name="Google Shape;520;p18">
              <a:extLst>
                <a:ext uri="{FF2B5EF4-FFF2-40B4-BE49-F238E27FC236}">
                  <a16:creationId xmlns:a16="http://schemas.microsoft.com/office/drawing/2014/main" id="{D2D8C04F-726D-A093-09FF-C4981D157989}"/>
                </a:ext>
              </a:extLst>
            </p:cNvPr>
            <p:cNvSpPr/>
            <p:nvPr/>
          </p:nvSpPr>
          <p:spPr>
            <a:xfrm>
              <a:off x="320040" y="1075922"/>
              <a:ext cx="3931920" cy="2011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>
                <a:buClr>
                  <a:srgbClr val="1B3A6B"/>
                </a:buClr>
                <a:buSzPts val="900"/>
              </a:pPr>
              <a:r>
                <a:rPr lang="pt-BR" sz="1050" b="1" noProof="1">
                  <a:solidFill>
                    <a:srgbClr val="1B3A6B"/>
                  </a:solidFill>
                  <a:latin typeface="Calibri"/>
                  <a:cs typeface="Calibri"/>
                  <a:sym typeface="Calibri"/>
                </a:rPr>
                <a:t>O programa funciona</a:t>
              </a:r>
            </a:p>
          </p:txBody>
        </p:sp>
        <p:sp>
          <p:nvSpPr>
            <p:cNvPr id="258" name="Google Shape;521;p18">
              <a:extLst>
                <a:ext uri="{FF2B5EF4-FFF2-40B4-BE49-F238E27FC236}">
                  <a16:creationId xmlns:a16="http://schemas.microsoft.com/office/drawing/2014/main" id="{C020FA21-2F6B-7ABF-587F-BE8902FE6572}"/>
                </a:ext>
              </a:extLst>
            </p:cNvPr>
            <p:cNvSpPr/>
            <p:nvPr/>
          </p:nvSpPr>
          <p:spPr>
            <a:xfrm>
              <a:off x="320040" y="1313666"/>
              <a:ext cx="3931920" cy="2926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>
                <a:buClr>
                  <a:srgbClr val="64748B"/>
                </a:buClr>
                <a:buSzPts val="850"/>
              </a:pPr>
              <a:r>
                <a:rPr lang="pt-BR" sz="1000" noProof="1">
                  <a:solidFill>
                    <a:srgbClr val="64748B"/>
                  </a:solidFill>
                  <a:latin typeface="Calibri"/>
                  <a:cs typeface="Calibri"/>
                  <a:sym typeface="Calibri"/>
                </a:rPr>
                <a:t>Em Fase: 30% → 53,8% em 3 anos. Defasagem Severa quase zerou (−89%). O impacto é real e mensurável.</a:t>
              </a:r>
            </a:p>
          </p:txBody>
        </p:sp>
      </p:grpSp>
      <p:grpSp>
        <p:nvGrpSpPr>
          <p:cNvPr id="294" name="Group 293">
            <a:extLst>
              <a:ext uri="{FF2B5EF4-FFF2-40B4-BE49-F238E27FC236}">
                <a16:creationId xmlns:a16="http://schemas.microsoft.com/office/drawing/2014/main" id="{BC161C3F-83E3-EBF1-4014-95538AC7698E}"/>
              </a:ext>
            </a:extLst>
          </p:cNvPr>
          <p:cNvGrpSpPr/>
          <p:nvPr/>
        </p:nvGrpSpPr>
        <p:grpSpPr>
          <a:xfrm>
            <a:off x="120101" y="1766364"/>
            <a:ext cx="4758077" cy="777626"/>
            <a:chOff x="120101" y="1766364"/>
            <a:chExt cx="4758077" cy="777626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B9350AB7-4625-B802-A17B-1587DCE2A13A}"/>
                </a:ext>
              </a:extLst>
            </p:cNvPr>
            <p:cNvGrpSpPr/>
            <p:nvPr/>
          </p:nvGrpSpPr>
          <p:grpSpPr>
            <a:xfrm>
              <a:off x="120101" y="1766364"/>
              <a:ext cx="4758077" cy="777626"/>
              <a:chOff x="4748980" y="1552022"/>
              <a:chExt cx="4226640" cy="738762"/>
            </a:xfrm>
          </p:grpSpPr>
          <p:sp>
            <p:nvSpPr>
              <p:cNvPr id="6" name="Google Shape;143;p7">
                <a:extLst>
                  <a:ext uri="{FF2B5EF4-FFF2-40B4-BE49-F238E27FC236}">
                    <a16:creationId xmlns:a16="http://schemas.microsoft.com/office/drawing/2014/main" id="{A500CB3E-F056-9C96-BB4D-4623E5A432FF}"/>
                  </a:ext>
                </a:extLst>
              </p:cNvPr>
              <p:cNvSpPr/>
              <p:nvPr/>
            </p:nvSpPr>
            <p:spPr>
              <a:xfrm>
                <a:off x="4748980" y="1552022"/>
                <a:ext cx="4226640" cy="738762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" name="Google Shape;235;p10">
                <a:extLst>
                  <a:ext uri="{FF2B5EF4-FFF2-40B4-BE49-F238E27FC236}">
                    <a16:creationId xmlns:a16="http://schemas.microsoft.com/office/drawing/2014/main" id="{0EEFAEED-61DC-E69D-9CE1-8CA5990B777F}"/>
                  </a:ext>
                </a:extLst>
              </p:cNvPr>
              <p:cNvSpPr/>
              <p:nvPr/>
            </p:nvSpPr>
            <p:spPr>
              <a:xfrm>
                <a:off x="4762486" y="1554616"/>
                <a:ext cx="4199776" cy="58107"/>
              </a:xfrm>
              <a:prstGeom prst="rect">
                <a:avLst/>
              </a:prstGeom>
              <a:solidFill>
                <a:srgbClr val="2E5FA3"/>
              </a:solidFill>
              <a:ln w="12700" cap="flat" cmpd="sng">
                <a:solidFill>
                  <a:srgbClr val="2E5FA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64" name="Google Shape;524;p18">
              <a:extLst>
                <a:ext uri="{FF2B5EF4-FFF2-40B4-BE49-F238E27FC236}">
                  <a16:creationId xmlns:a16="http://schemas.microsoft.com/office/drawing/2014/main" id="{5647C442-9687-1BA8-15F8-6E2D74AD9150}"/>
                </a:ext>
              </a:extLst>
            </p:cNvPr>
            <p:cNvSpPr/>
            <p:nvPr/>
          </p:nvSpPr>
          <p:spPr>
            <a:xfrm>
              <a:off x="320040" y="1950394"/>
              <a:ext cx="3931920" cy="2011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>
                <a:buClr>
                  <a:srgbClr val="1B3A6B"/>
                </a:buClr>
                <a:buSzPts val="900"/>
              </a:pPr>
              <a:r>
                <a:rPr lang="pt-BR" sz="1050" b="1" noProof="1">
                  <a:solidFill>
                    <a:srgbClr val="1B3A6B"/>
                  </a:solidFill>
                  <a:latin typeface="Calibri"/>
                  <a:cs typeface="Calibri"/>
                  <a:sym typeface="Calibri"/>
                </a:rPr>
                <a:t>IDA é a fraqueza estrutural de todos</a:t>
              </a:r>
            </a:p>
          </p:txBody>
        </p:sp>
        <p:sp>
          <p:nvSpPr>
            <p:cNvPr id="266" name="Google Shape;525;p18">
              <a:extLst>
                <a:ext uri="{FF2B5EF4-FFF2-40B4-BE49-F238E27FC236}">
                  <a16:creationId xmlns:a16="http://schemas.microsoft.com/office/drawing/2014/main" id="{4558D9C8-EBC0-C063-9287-AEB84D5E3FC9}"/>
                </a:ext>
              </a:extLst>
            </p:cNvPr>
            <p:cNvSpPr/>
            <p:nvPr/>
          </p:nvSpPr>
          <p:spPr>
            <a:xfrm>
              <a:off x="320040" y="2188138"/>
              <a:ext cx="3931920" cy="2926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>
                <a:buClr>
                  <a:srgbClr val="64748B"/>
                </a:buClr>
                <a:buSzPts val="850"/>
              </a:pPr>
              <a:r>
                <a:rPr lang="pt-BR" sz="1000" noProof="1">
                  <a:solidFill>
                    <a:srgbClr val="64748B"/>
                  </a:solidFill>
                  <a:latin typeface="Calibri"/>
                  <a:cs typeface="Calibri"/>
                  <a:sym typeface="Calibri"/>
                </a:rPr>
                <a:t>O vale no IDA aparece em todas as Pedras, todos os anos. Não é problema do Quartzo — é do programa inteiro.</a:t>
              </a:r>
            </a:p>
          </p:txBody>
        </p:sp>
      </p:grpSp>
      <p:grpSp>
        <p:nvGrpSpPr>
          <p:cNvPr id="295" name="Group 294">
            <a:extLst>
              <a:ext uri="{FF2B5EF4-FFF2-40B4-BE49-F238E27FC236}">
                <a16:creationId xmlns:a16="http://schemas.microsoft.com/office/drawing/2014/main" id="{A4AB1B78-8C42-9952-9FF4-35DFEF07F4E7}"/>
              </a:ext>
            </a:extLst>
          </p:cNvPr>
          <p:cNvGrpSpPr/>
          <p:nvPr/>
        </p:nvGrpSpPr>
        <p:grpSpPr>
          <a:xfrm>
            <a:off x="131312" y="2597067"/>
            <a:ext cx="4758076" cy="777626"/>
            <a:chOff x="131312" y="2597067"/>
            <a:chExt cx="4758076" cy="777626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6719B5A8-47C6-7FBE-2D81-9EB282B813A5}"/>
                </a:ext>
              </a:extLst>
            </p:cNvPr>
            <p:cNvGrpSpPr/>
            <p:nvPr/>
          </p:nvGrpSpPr>
          <p:grpSpPr>
            <a:xfrm>
              <a:off x="131312" y="2597067"/>
              <a:ext cx="4758076" cy="777626"/>
              <a:chOff x="4748980" y="1552022"/>
              <a:chExt cx="4226640" cy="738762"/>
            </a:xfrm>
          </p:grpSpPr>
          <p:sp>
            <p:nvSpPr>
              <p:cNvPr id="12" name="Google Shape;143;p7">
                <a:extLst>
                  <a:ext uri="{FF2B5EF4-FFF2-40B4-BE49-F238E27FC236}">
                    <a16:creationId xmlns:a16="http://schemas.microsoft.com/office/drawing/2014/main" id="{8F9E418E-AA7D-D513-C5A1-DF42464EFB34}"/>
                  </a:ext>
                </a:extLst>
              </p:cNvPr>
              <p:cNvSpPr/>
              <p:nvPr/>
            </p:nvSpPr>
            <p:spPr>
              <a:xfrm>
                <a:off x="4748980" y="1552022"/>
                <a:ext cx="4226640" cy="738762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3" name="Google Shape;235;p10">
                <a:extLst>
                  <a:ext uri="{FF2B5EF4-FFF2-40B4-BE49-F238E27FC236}">
                    <a16:creationId xmlns:a16="http://schemas.microsoft.com/office/drawing/2014/main" id="{274ED969-C234-79B1-35B4-EEA90747AFC1}"/>
                  </a:ext>
                </a:extLst>
              </p:cNvPr>
              <p:cNvSpPr/>
              <p:nvPr/>
            </p:nvSpPr>
            <p:spPr>
              <a:xfrm>
                <a:off x="4762486" y="1554616"/>
                <a:ext cx="4199776" cy="58107"/>
              </a:xfrm>
              <a:prstGeom prst="rect">
                <a:avLst/>
              </a:prstGeom>
              <a:solidFill>
                <a:srgbClr val="2E5FA3"/>
              </a:solidFill>
              <a:ln w="12700" cap="flat" cmpd="sng">
                <a:solidFill>
                  <a:srgbClr val="2E5FA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67" name="Google Shape;528;p18">
              <a:extLst>
                <a:ext uri="{FF2B5EF4-FFF2-40B4-BE49-F238E27FC236}">
                  <a16:creationId xmlns:a16="http://schemas.microsoft.com/office/drawing/2014/main" id="{6F2E3180-A894-322D-E5E0-3794C647DB82}"/>
                </a:ext>
              </a:extLst>
            </p:cNvPr>
            <p:cNvSpPr/>
            <p:nvPr/>
          </p:nvSpPr>
          <p:spPr>
            <a:xfrm>
              <a:off x="320040" y="2746050"/>
              <a:ext cx="3931920" cy="2011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>
                <a:buClr>
                  <a:srgbClr val="1B3A6B"/>
                </a:buClr>
                <a:buSzPts val="900"/>
              </a:pPr>
              <a:r>
                <a:rPr lang="pt-BR" sz="1050" b="1" noProof="1">
                  <a:solidFill>
                    <a:srgbClr val="1B3A6B"/>
                  </a:solidFill>
                  <a:latin typeface="Calibri"/>
                  <a:cs typeface="Calibri"/>
                  <a:sym typeface="Calibri"/>
                </a:rPr>
                <a:t>IPS antecipa o IDA em aproximadamente 1 ano</a:t>
              </a:r>
            </a:p>
          </p:txBody>
        </p:sp>
        <p:sp>
          <p:nvSpPr>
            <p:cNvPr id="270" name="Google Shape;529;p18">
              <a:extLst>
                <a:ext uri="{FF2B5EF4-FFF2-40B4-BE49-F238E27FC236}">
                  <a16:creationId xmlns:a16="http://schemas.microsoft.com/office/drawing/2014/main" id="{8906217E-F79E-2801-25D6-B2ED84F20A44}"/>
                </a:ext>
              </a:extLst>
            </p:cNvPr>
            <p:cNvSpPr/>
            <p:nvPr/>
          </p:nvSpPr>
          <p:spPr>
            <a:xfrm>
              <a:off x="320040" y="2983794"/>
              <a:ext cx="3931920" cy="2926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>
                <a:buClr>
                  <a:srgbClr val="64748B"/>
                </a:buClr>
                <a:buSzPts val="850"/>
              </a:pPr>
              <a:r>
                <a:rPr lang="pt-BR" sz="1000" noProof="1">
                  <a:solidFill>
                    <a:srgbClr val="64748B"/>
                  </a:solidFill>
                  <a:latin typeface="Calibri"/>
                  <a:cs typeface="Calibri"/>
                  <a:sym typeface="Calibri"/>
                </a:rPr>
                <a:t>Queda do IPS em 2023 chegou como queda do IDA em 2024. Saúde emocional é o termômetro acadêmico mais precoce.</a:t>
              </a:r>
            </a:p>
          </p:txBody>
        </p:sp>
      </p:grpSp>
      <p:grpSp>
        <p:nvGrpSpPr>
          <p:cNvPr id="296" name="Group 295">
            <a:extLst>
              <a:ext uri="{FF2B5EF4-FFF2-40B4-BE49-F238E27FC236}">
                <a16:creationId xmlns:a16="http://schemas.microsoft.com/office/drawing/2014/main" id="{F81D84FC-09EB-0660-DBA6-6B5CE8F6958B}"/>
              </a:ext>
            </a:extLst>
          </p:cNvPr>
          <p:cNvGrpSpPr/>
          <p:nvPr/>
        </p:nvGrpSpPr>
        <p:grpSpPr>
          <a:xfrm>
            <a:off x="120100" y="3442956"/>
            <a:ext cx="4754249" cy="777626"/>
            <a:chOff x="120100" y="3442956"/>
            <a:chExt cx="4754249" cy="777626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488788C-C98B-F458-D665-D8E04F98B560}"/>
                </a:ext>
              </a:extLst>
            </p:cNvPr>
            <p:cNvGrpSpPr/>
            <p:nvPr/>
          </p:nvGrpSpPr>
          <p:grpSpPr>
            <a:xfrm>
              <a:off x="120100" y="3442956"/>
              <a:ext cx="4754249" cy="777626"/>
              <a:chOff x="4748980" y="1552022"/>
              <a:chExt cx="4226640" cy="738762"/>
            </a:xfrm>
          </p:grpSpPr>
          <p:sp>
            <p:nvSpPr>
              <p:cNvPr id="18" name="Google Shape;143;p7">
                <a:extLst>
                  <a:ext uri="{FF2B5EF4-FFF2-40B4-BE49-F238E27FC236}">
                    <a16:creationId xmlns:a16="http://schemas.microsoft.com/office/drawing/2014/main" id="{ED728B1A-4E41-BC9F-511E-BDCE22FD5A0C}"/>
                  </a:ext>
                </a:extLst>
              </p:cNvPr>
              <p:cNvSpPr/>
              <p:nvPr/>
            </p:nvSpPr>
            <p:spPr>
              <a:xfrm>
                <a:off x="4748980" y="1552022"/>
                <a:ext cx="4226640" cy="738762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" name="Google Shape;235;p10">
                <a:extLst>
                  <a:ext uri="{FF2B5EF4-FFF2-40B4-BE49-F238E27FC236}">
                    <a16:creationId xmlns:a16="http://schemas.microsoft.com/office/drawing/2014/main" id="{11BA3CE5-B26C-BD6A-BF84-32BFB3D5BB1A}"/>
                  </a:ext>
                </a:extLst>
              </p:cNvPr>
              <p:cNvSpPr/>
              <p:nvPr/>
            </p:nvSpPr>
            <p:spPr>
              <a:xfrm>
                <a:off x="4762486" y="1554616"/>
                <a:ext cx="4199776" cy="58107"/>
              </a:xfrm>
              <a:prstGeom prst="rect">
                <a:avLst/>
              </a:prstGeom>
              <a:solidFill>
                <a:srgbClr val="2E5FA3"/>
              </a:solidFill>
              <a:ln w="12700" cap="flat" cmpd="sng">
                <a:solidFill>
                  <a:srgbClr val="2E5FA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72" name="Google Shape;532;p18">
              <a:extLst>
                <a:ext uri="{FF2B5EF4-FFF2-40B4-BE49-F238E27FC236}">
                  <a16:creationId xmlns:a16="http://schemas.microsoft.com/office/drawing/2014/main" id="{8AFC2B76-7B88-BAB1-F7DC-D3D04E02593A}"/>
                </a:ext>
              </a:extLst>
            </p:cNvPr>
            <p:cNvSpPr/>
            <p:nvPr/>
          </p:nvSpPr>
          <p:spPr>
            <a:xfrm>
              <a:off x="320040" y="3591939"/>
              <a:ext cx="3931920" cy="2011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>
                <a:buClr>
                  <a:srgbClr val="1B3A6B"/>
                </a:buClr>
                <a:buSzPts val="900"/>
              </a:pPr>
              <a:r>
                <a:rPr lang="pt-BR" sz="1050" b="1" noProof="1">
                  <a:solidFill>
                    <a:srgbClr val="1B3A6B"/>
                  </a:solidFill>
                  <a:latin typeface="Calibri"/>
                  <a:cs typeface="Calibri"/>
                  <a:sym typeface="Calibri"/>
                </a:rPr>
                <a:t>Ágata está travada há 3 anos</a:t>
              </a:r>
            </a:p>
          </p:txBody>
        </p:sp>
        <p:sp>
          <p:nvSpPr>
            <p:cNvPr id="273" name="Google Shape;533;p18">
              <a:extLst>
                <a:ext uri="{FF2B5EF4-FFF2-40B4-BE49-F238E27FC236}">
                  <a16:creationId xmlns:a16="http://schemas.microsoft.com/office/drawing/2014/main" id="{68D45DDE-B3C3-A235-DF44-57F1B2215B19}"/>
                </a:ext>
              </a:extLst>
            </p:cNvPr>
            <p:cNvSpPr/>
            <p:nvPr/>
          </p:nvSpPr>
          <p:spPr>
            <a:xfrm>
              <a:off x="320040" y="3829683"/>
              <a:ext cx="3931920" cy="2926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>
                <a:buClr>
                  <a:srgbClr val="64748B"/>
                </a:buClr>
                <a:buSzPts val="850"/>
              </a:pPr>
              <a:r>
                <a:rPr lang="pt-BR" sz="1000" noProof="1">
                  <a:solidFill>
                    <a:srgbClr val="64748B"/>
                  </a:solidFill>
                  <a:latin typeface="Calibri"/>
                  <a:cs typeface="Calibri"/>
                  <a:sym typeface="Calibri"/>
                </a:rPr>
                <a:t>Único grupo de Pedra sem evolução no ciclo. A barreira entre Ágata e Ametista não está sendo superada.</a:t>
              </a:r>
            </a:p>
          </p:txBody>
        </p:sp>
      </p:grpSp>
      <p:grpSp>
        <p:nvGrpSpPr>
          <p:cNvPr id="297" name="Group 296">
            <a:extLst>
              <a:ext uri="{FF2B5EF4-FFF2-40B4-BE49-F238E27FC236}">
                <a16:creationId xmlns:a16="http://schemas.microsoft.com/office/drawing/2014/main" id="{71CE6352-1DD1-05C2-A31A-32F61B1A9857}"/>
              </a:ext>
            </a:extLst>
          </p:cNvPr>
          <p:cNvGrpSpPr/>
          <p:nvPr/>
        </p:nvGrpSpPr>
        <p:grpSpPr>
          <a:xfrm>
            <a:off x="85410" y="4274928"/>
            <a:ext cx="4754249" cy="777626"/>
            <a:chOff x="85410" y="4274928"/>
            <a:chExt cx="4754249" cy="777626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D600BEBD-BE45-F831-DEF0-D991457EC388}"/>
                </a:ext>
              </a:extLst>
            </p:cNvPr>
            <p:cNvGrpSpPr/>
            <p:nvPr/>
          </p:nvGrpSpPr>
          <p:grpSpPr>
            <a:xfrm>
              <a:off x="85410" y="4274928"/>
              <a:ext cx="4754249" cy="777626"/>
              <a:chOff x="4748980" y="1552022"/>
              <a:chExt cx="4226640" cy="738762"/>
            </a:xfrm>
          </p:grpSpPr>
          <p:sp>
            <p:nvSpPr>
              <p:cNvPr id="24" name="Google Shape;143;p7">
                <a:extLst>
                  <a:ext uri="{FF2B5EF4-FFF2-40B4-BE49-F238E27FC236}">
                    <a16:creationId xmlns:a16="http://schemas.microsoft.com/office/drawing/2014/main" id="{A1CD9BC2-FBCC-D65F-94E0-B140174069E2}"/>
                  </a:ext>
                </a:extLst>
              </p:cNvPr>
              <p:cNvSpPr/>
              <p:nvPr/>
            </p:nvSpPr>
            <p:spPr>
              <a:xfrm>
                <a:off x="4748980" y="1552022"/>
                <a:ext cx="4226640" cy="738762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5" name="Google Shape;235;p10">
                <a:extLst>
                  <a:ext uri="{FF2B5EF4-FFF2-40B4-BE49-F238E27FC236}">
                    <a16:creationId xmlns:a16="http://schemas.microsoft.com/office/drawing/2014/main" id="{24EEFA90-914A-F6E7-EEF5-335BA2A128F5}"/>
                  </a:ext>
                </a:extLst>
              </p:cNvPr>
              <p:cNvSpPr/>
              <p:nvPr/>
            </p:nvSpPr>
            <p:spPr>
              <a:xfrm>
                <a:off x="4762486" y="1554616"/>
                <a:ext cx="4199776" cy="58107"/>
              </a:xfrm>
              <a:prstGeom prst="rect">
                <a:avLst/>
              </a:prstGeom>
              <a:solidFill>
                <a:srgbClr val="2E5FA3"/>
              </a:solidFill>
              <a:ln w="12700" cap="flat" cmpd="sng">
                <a:solidFill>
                  <a:srgbClr val="2E5FA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76" name="Google Shape;536;p18">
              <a:extLst>
                <a:ext uri="{FF2B5EF4-FFF2-40B4-BE49-F238E27FC236}">
                  <a16:creationId xmlns:a16="http://schemas.microsoft.com/office/drawing/2014/main" id="{342A3E15-9E5A-E1DB-CE40-9B25E2AAB3F2}"/>
                </a:ext>
              </a:extLst>
            </p:cNvPr>
            <p:cNvSpPr/>
            <p:nvPr/>
          </p:nvSpPr>
          <p:spPr>
            <a:xfrm>
              <a:off x="301752" y="4361688"/>
              <a:ext cx="3931920" cy="2011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>
                <a:buClr>
                  <a:srgbClr val="1B3A6B"/>
                </a:buClr>
                <a:buSzPts val="900"/>
              </a:pPr>
              <a:r>
                <a:rPr lang="pt-BR" sz="1050" b="1" noProof="1">
                  <a:solidFill>
                    <a:srgbClr val="1B3A6B"/>
                  </a:solidFill>
                  <a:latin typeface="Calibri"/>
                  <a:cs typeface="Calibri"/>
                  <a:sym typeface="Calibri"/>
                </a:rPr>
                <a:t> IEG democratizou — é a maior alavanca</a:t>
              </a:r>
            </a:p>
          </p:txBody>
        </p:sp>
        <p:sp>
          <p:nvSpPr>
            <p:cNvPr id="278" name="Google Shape;537;p18">
              <a:extLst>
                <a:ext uri="{FF2B5EF4-FFF2-40B4-BE49-F238E27FC236}">
                  <a16:creationId xmlns:a16="http://schemas.microsoft.com/office/drawing/2014/main" id="{1110F14A-19DB-7C90-7344-1C29BCBF167F}"/>
                </a:ext>
              </a:extLst>
            </p:cNvPr>
            <p:cNvSpPr/>
            <p:nvPr/>
          </p:nvSpPr>
          <p:spPr>
            <a:xfrm>
              <a:off x="301752" y="4599432"/>
              <a:ext cx="3931920" cy="2926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>
                <a:buClr>
                  <a:srgbClr val="64748B"/>
                </a:buClr>
                <a:buSzPts val="850"/>
              </a:pPr>
              <a:r>
                <a:rPr lang="pt-BR" sz="1000" noProof="1">
                  <a:solidFill>
                    <a:srgbClr val="64748B"/>
                  </a:solidFill>
                  <a:latin typeface="Calibri"/>
                  <a:cs typeface="Calibri"/>
                  <a:sym typeface="Calibri"/>
                </a:rPr>
                <a:t>Em 2024, engajamento está igualado entre Pedras. É o indicador mais correlacionado com PV e o mais acessível.</a:t>
              </a:r>
            </a:p>
          </p:txBody>
        </p:sp>
      </p:grpSp>
      <p:grpSp>
        <p:nvGrpSpPr>
          <p:cNvPr id="314" name="Group 313">
            <a:extLst>
              <a:ext uri="{FF2B5EF4-FFF2-40B4-BE49-F238E27FC236}">
                <a16:creationId xmlns:a16="http://schemas.microsoft.com/office/drawing/2014/main" id="{D22BAB8F-4644-688B-486D-D91F100A2D58}"/>
              </a:ext>
            </a:extLst>
          </p:cNvPr>
          <p:cNvGrpSpPr/>
          <p:nvPr/>
        </p:nvGrpSpPr>
        <p:grpSpPr>
          <a:xfrm>
            <a:off x="5148520" y="932878"/>
            <a:ext cx="3928564" cy="867060"/>
            <a:chOff x="5148520" y="932878"/>
            <a:chExt cx="3928564" cy="867060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C095A391-235D-0CE9-3C85-8F3D535D15B2}"/>
                </a:ext>
              </a:extLst>
            </p:cNvPr>
            <p:cNvGrpSpPr/>
            <p:nvPr/>
          </p:nvGrpSpPr>
          <p:grpSpPr>
            <a:xfrm>
              <a:off x="5148520" y="932878"/>
              <a:ext cx="3875378" cy="867060"/>
              <a:chOff x="4748980" y="1552022"/>
              <a:chExt cx="4226640" cy="738762"/>
            </a:xfrm>
          </p:grpSpPr>
          <p:sp>
            <p:nvSpPr>
              <p:cNvPr id="35" name="Google Shape;143;p7">
                <a:extLst>
                  <a:ext uri="{FF2B5EF4-FFF2-40B4-BE49-F238E27FC236}">
                    <a16:creationId xmlns:a16="http://schemas.microsoft.com/office/drawing/2014/main" id="{5E93787E-DCA3-D3AF-5A33-952F068F7180}"/>
                  </a:ext>
                </a:extLst>
              </p:cNvPr>
              <p:cNvSpPr/>
              <p:nvPr/>
            </p:nvSpPr>
            <p:spPr>
              <a:xfrm>
                <a:off x="4748980" y="1552022"/>
                <a:ext cx="4226640" cy="738762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7" name="Google Shape;235;p10">
                <a:extLst>
                  <a:ext uri="{FF2B5EF4-FFF2-40B4-BE49-F238E27FC236}">
                    <a16:creationId xmlns:a16="http://schemas.microsoft.com/office/drawing/2014/main" id="{2CB520E9-1BE0-8379-0C14-DE513BDF5FA2}"/>
                  </a:ext>
                </a:extLst>
              </p:cNvPr>
              <p:cNvSpPr/>
              <p:nvPr/>
            </p:nvSpPr>
            <p:spPr>
              <a:xfrm>
                <a:off x="4762486" y="1554616"/>
                <a:ext cx="4199776" cy="58107"/>
              </a:xfrm>
              <a:prstGeom prst="rect">
                <a:avLst/>
              </a:prstGeom>
              <a:solidFill>
                <a:srgbClr val="2E5FA3"/>
              </a:solidFill>
              <a:ln w="12700" cap="flat" cmpd="sng">
                <a:solidFill>
                  <a:srgbClr val="2E5FA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98" name="Google Shape;542;p18">
              <a:extLst>
                <a:ext uri="{FF2B5EF4-FFF2-40B4-BE49-F238E27FC236}">
                  <a16:creationId xmlns:a16="http://schemas.microsoft.com/office/drawing/2014/main" id="{13246F72-C508-6AC8-8AD6-07E73FFB8E7E}"/>
                </a:ext>
              </a:extLst>
            </p:cNvPr>
            <p:cNvSpPr/>
            <p:nvPr/>
          </p:nvSpPr>
          <p:spPr>
            <a:xfrm>
              <a:off x="5264036" y="998965"/>
              <a:ext cx="3813048" cy="2011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>
                <a:buClr>
                  <a:srgbClr val="1B3A6B"/>
                </a:buClr>
                <a:buSzPts val="900"/>
              </a:pPr>
              <a:r>
                <a:rPr lang="pt-BR" sz="900" b="1" noProof="1">
                  <a:solidFill>
                    <a:srgbClr val="1B3A6B"/>
                  </a:solidFill>
                  <a:latin typeface="Calibri"/>
                  <a:cs typeface="Calibri"/>
                  <a:sym typeface="Calibri"/>
                </a:rPr>
                <a:t>Dashboard — rotina de acompanhamento</a:t>
              </a:r>
            </a:p>
          </p:txBody>
        </p:sp>
        <p:sp>
          <p:nvSpPr>
            <p:cNvPr id="299" name="Google Shape;543;p18">
              <a:extLst>
                <a:ext uri="{FF2B5EF4-FFF2-40B4-BE49-F238E27FC236}">
                  <a16:creationId xmlns:a16="http://schemas.microsoft.com/office/drawing/2014/main" id="{2D7530FA-E975-563E-5C86-333D96D0D752}"/>
                </a:ext>
              </a:extLst>
            </p:cNvPr>
            <p:cNvSpPr/>
            <p:nvPr/>
          </p:nvSpPr>
          <p:spPr>
            <a:xfrm>
              <a:off x="5264036" y="1227565"/>
              <a:ext cx="3813048" cy="1645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>
                <a:buClr>
                  <a:srgbClr val="64748B"/>
                </a:buClr>
                <a:buSzPts val="850"/>
              </a:pPr>
              <a:r>
                <a:rPr lang="pt-BR" sz="800" noProof="1">
                  <a:solidFill>
                    <a:srgbClr val="64748B"/>
                  </a:solidFill>
                  <a:latin typeface="Calibri"/>
                  <a:cs typeface="Calibri"/>
                  <a:sym typeface="Calibri"/>
                </a:rPr>
                <a:t>◆  Abrir a Aba 1 no início de cada ciclo: checar KPIs vs. ano anterior</a:t>
              </a:r>
            </a:p>
          </p:txBody>
        </p:sp>
        <p:sp>
          <p:nvSpPr>
            <p:cNvPr id="300" name="Google Shape;544;p18">
              <a:extLst>
                <a:ext uri="{FF2B5EF4-FFF2-40B4-BE49-F238E27FC236}">
                  <a16:creationId xmlns:a16="http://schemas.microsoft.com/office/drawing/2014/main" id="{7C534F7D-A268-A026-558E-65180DA816E6}"/>
                </a:ext>
              </a:extLst>
            </p:cNvPr>
            <p:cNvSpPr/>
            <p:nvPr/>
          </p:nvSpPr>
          <p:spPr>
            <a:xfrm>
              <a:off x="5264036" y="1401301"/>
              <a:ext cx="3813048" cy="1645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>
                <a:buClr>
                  <a:srgbClr val="64748B"/>
                </a:buClr>
                <a:buSzPts val="850"/>
              </a:pPr>
              <a:r>
                <a:rPr lang="pt-BR" sz="800" noProof="1">
                  <a:solidFill>
                    <a:srgbClr val="64748B"/>
                  </a:solidFill>
                  <a:latin typeface="Calibri"/>
                  <a:cs typeface="Calibri"/>
                  <a:sym typeface="Calibri"/>
                </a:rPr>
                <a:t>◆  Filtrar por Persona: priorizar 'Desfocados' e 'Esforçados em Risco'</a:t>
              </a:r>
            </a:p>
          </p:txBody>
        </p:sp>
        <p:sp>
          <p:nvSpPr>
            <p:cNvPr id="301" name="Google Shape;545;p18">
              <a:extLst>
                <a:ext uri="{FF2B5EF4-FFF2-40B4-BE49-F238E27FC236}">
                  <a16:creationId xmlns:a16="http://schemas.microsoft.com/office/drawing/2014/main" id="{CDDECAAC-31B2-7E5B-0A0A-97D80DF7FB7C}"/>
                </a:ext>
              </a:extLst>
            </p:cNvPr>
            <p:cNvSpPr/>
            <p:nvPr/>
          </p:nvSpPr>
          <p:spPr>
            <a:xfrm>
              <a:off x="5264036" y="1575037"/>
              <a:ext cx="3813048" cy="1645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>
                <a:buClr>
                  <a:srgbClr val="64748B"/>
                </a:buClr>
                <a:buSzPts val="850"/>
              </a:pPr>
              <a:r>
                <a:rPr lang="pt-BR" sz="800" noProof="1">
                  <a:solidFill>
                    <a:srgbClr val="64748B"/>
                  </a:solidFill>
                  <a:latin typeface="Calibri"/>
                  <a:cs typeface="Calibri"/>
                  <a:sym typeface="Calibri"/>
                </a:rPr>
                <a:t>◆  Aba 3: monitorar IPS mensalmente — sinal precoce de risco acadêmico</a:t>
              </a:r>
            </a:p>
          </p:txBody>
        </p:sp>
      </p:grpSp>
      <p:grpSp>
        <p:nvGrpSpPr>
          <p:cNvPr id="315" name="Group 314">
            <a:extLst>
              <a:ext uri="{FF2B5EF4-FFF2-40B4-BE49-F238E27FC236}">
                <a16:creationId xmlns:a16="http://schemas.microsoft.com/office/drawing/2014/main" id="{ECDD7C62-83A7-AFF4-11C5-3CB36A56E4D5}"/>
              </a:ext>
            </a:extLst>
          </p:cNvPr>
          <p:cNvGrpSpPr/>
          <p:nvPr/>
        </p:nvGrpSpPr>
        <p:grpSpPr>
          <a:xfrm>
            <a:off x="5144771" y="1913455"/>
            <a:ext cx="3932313" cy="867060"/>
            <a:chOff x="5144771" y="1913455"/>
            <a:chExt cx="3932313" cy="867060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DFEC59E2-1869-EC07-50E7-E767AD5126DB}"/>
                </a:ext>
              </a:extLst>
            </p:cNvPr>
            <p:cNvGrpSpPr/>
            <p:nvPr/>
          </p:nvGrpSpPr>
          <p:grpSpPr>
            <a:xfrm>
              <a:off x="5144771" y="1913455"/>
              <a:ext cx="3875378" cy="867060"/>
              <a:chOff x="4748980" y="1552022"/>
              <a:chExt cx="4226640" cy="738762"/>
            </a:xfrm>
          </p:grpSpPr>
          <p:sp>
            <p:nvSpPr>
              <p:cNvPr id="42" name="Google Shape;143;p7">
                <a:extLst>
                  <a:ext uri="{FF2B5EF4-FFF2-40B4-BE49-F238E27FC236}">
                    <a16:creationId xmlns:a16="http://schemas.microsoft.com/office/drawing/2014/main" id="{78A505DA-A65E-DFE4-1E00-9D4253290210}"/>
                  </a:ext>
                </a:extLst>
              </p:cNvPr>
              <p:cNvSpPr/>
              <p:nvPr/>
            </p:nvSpPr>
            <p:spPr>
              <a:xfrm>
                <a:off x="4748980" y="1552022"/>
                <a:ext cx="4226640" cy="738762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3" name="Google Shape;235;p10">
                <a:extLst>
                  <a:ext uri="{FF2B5EF4-FFF2-40B4-BE49-F238E27FC236}">
                    <a16:creationId xmlns:a16="http://schemas.microsoft.com/office/drawing/2014/main" id="{A5E0D310-9731-69F1-53AC-2CC896DF4DF3}"/>
                  </a:ext>
                </a:extLst>
              </p:cNvPr>
              <p:cNvSpPr/>
              <p:nvPr/>
            </p:nvSpPr>
            <p:spPr>
              <a:xfrm>
                <a:off x="4762486" y="1554616"/>
                <a:ext cx="4199776" cy="58107"/>
              </a:xfrm>
              <a:prstGeom prst="rect">
                <a:avLst/>
              </a:prstGeom>
              <a:solidFill>
                <a:srgbClr val="2E5FA3"/>
              </a:solidFill>
              <a:ln w="12700" cap="flat" cmpd="sng">
                <a:solidFill>
                  <a:srgbClr val="2E5FA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02" name="Google Shape;549;p18">
              <a:extLst>
                <a:ext uri="{FF2B5EF4-FFF2-40B4-BE49-F238E27FC236}">
                  <a16:creationId xmlns:a16="http://schemas.microsoft.com/office/drawing/2014/main" id="{CC4C7EF1-5347-E6F9-7C96-6373A98BB856}"/>
                </a:ext>
              </a:extLst>
            </p:cNvPr>
            <p:cNvSpPr/>
            <p:nvPr/>
          </p:nvSpPr>
          <p:spPr>
            <a:xfrm>
              <a:off x="5264036" y="2005363"/>
              <a:ext cx="3813048" cy="2011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>
                <a:buClr>
                  <a:srgbClr val="1B3A6B"/>
                </a:buClr>
                <a:buSzPts val="900"/>
              </a:pPr>
              <a:r>
                <a:rPr lang="pt-BR" sz="900" b="1" noProof="1">
                  <a:solidFill>
                    <a:srgbClr val="1B3A6B"/>
                  </a:solidFill>
                  <a:latin typeface="Calibri"/>
                  <a:cs typeface="Calibri"/>
                  <a:sym typeface="Calibri"/>
                </a:rPr>
                <a:t>App Preditivo — triagem individual</a:t>
              </a:r>
            </a:p>
          </p:txBody>
        </p:sp>
        <p:sp>
          <p:nvSpPr>
            <p:cNvPr id="303" name="Google Shape;550;p18">
              <a:extLst>
                <a:ext uri="{FF2B5EF4-FFF2-40B4-BE49-F238E27FC236}">
                  <a16:creationId xmlns:a16="http://schemas.microsoft.com/office/drawing/2014/main" id="{6B6FD66F-4BBA-DBE2-BCA6-9494BC1D9293}"/>
                </a:ext>
              </a:extLst>
            </p:cNvPr>
            <p:cNvSpPr/>
            <p:nvPr/>
          </p:nvSpPr>
          <p:spPr>
            <a:xfrm>
              <a:off x="5264036" y="2233963"/>
              <a:ext cx="3813048" cy="1645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>
                <a:buClr>
                  <a:srgbClr val="64748B"/>
                </a:buClr>
                <a:buSzPts val="850"/>
              </a:pPr>
              <a:r>
                <a:rPr lang="pt-BR" sz="800" noProof="1">
                  <a:solidFill>
                    <a:srgbClr val="64748B"/>
                  </a:solidFill>
                  <a:latin typeface="Calibri"/>
                  <a:cs typeface="Calibri"/>
                  <a:sym typeface="Calibri"/>
                </a:rPr>
                <a:t>◆  Inserir indicadores de cada aluno no início do ciclo avaliativo</a:t>
              </a:r>
            </a:p>
          </p:txBody>
        </p:sp>
        <p:sp>
          <p:nvSpPr>
            <p:cNvPr id="304" name="Google Shape;551;p18">
              <a:extLst>
                <a:ext uri="{FF2B5EF4-FFF2-40B4-BE49-F238E27FC236}">
                  <a16:creationId xmlns:a16="http://schemas.microsoft.com/office/drawing/2014/main" id="{80F119E6-915B-6A58-553B-C2FAAD3F1BE9}"/>
                </a:ext>
              </a:extLst>
            </p:cNvPr>
            <p:cNvSpPr/>
            <p:nvPr/>
          </p:nvSpPr>
          <p:spPr>
            <a:xfrm>
              <a:off x="5264036" y="2407699"/>
              <a:ext cx="3813048" cy="1645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>
                <a:buClr>
                  <a:srgbClr val="64748B"/>
                </a:buClr>
                <a:buSzPts val="850"/>
              </a:pPr>
              <a:r>
                <a:rPr lang="pt-BR" sz="800" noProof="1">
                  <a:solidFill>
                    <a:srgbClr val="64748B"/>
                  </a:solidFill>
                  <a:latin typeface="Calibri"/>
                  <a:cs typeface="Calibri"/>
                  <a:sym typeface="Calibri"/>
                </a:rPr>
                <a:t>◆  Classificar em Alto / Moderado / Baixo risco automaticamente</a:t>
              </a:r>
            </a:p>
          </p:txBody>
        </p:sp>
        <p:sp>
          <p:nvSpPr>
            <p:cNvPr id="305" name="Google Shape;552;p18">
              <a:extLst>
                <a:ext uri="{FF2B5EF4-FFF2-40B4-BE49-F238E27FC236}">
                  <a16:creationId xmlns:a16="http://schemas.microsoft.com/office/drawing/2014/main" id="{5174F4B8-688F-4B84-7A66-3B0DA3C328B8}"/>
                </a:ext>
              </a:extLst>
            </p:cNvPr>
            <p:cNvSpPr/>
            <p:nvPr/>
          </p:nvSpPr>
          <p:spPr>
            <a:xfrm>
              <a:off x="5264036" y="2581435"/>
              <a:ext cx="3813048" cy="1645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>
                <a:buClr>
                  <a:srgbClr val="64748B"/>
                </a:buClr>
                <a:buSzPts val="850"/>
              </a:pPr>
              <a:r>
                <a:rPr lang="pt-BR" sz="800" noProof="1">
                  <a:solidFill>
                    <a:srgbClr val="64748B"/>
                  </a:solidFill>
                  <a:latin typeface="Calibri"/>
                  <a:cs typeface="Calibri"/>
                  <a:sym typeface="Calibri"/>
                </a:rPr>
                <a:t>◆  Protocolo: risco Alto por 2 ciclos → acionar psicologia + psicopedagogia</a:t>
              </a:r>
            </a:p>
          </p:txBody>
        </p:sp>
      </p:grpSp>
      <p:grpSp>
        <p:nvGrpSpPr>
          <p:cNvPr id="316" name="Group 315">
            <a:extLst>
              <a:ext uri="{FF2B5EF4-FFF2-40B4-BE49-F238E27FC236}">
                <a16:creationId xmlns:a16="http://schemas.microsoft.com/office/drawing/2014/main" id="{A057D830-C0DD-5606-32B5-3E9889DB9720}"/>
              </a:ext>
            </a:extLst>
          </p:cNvPr>
          <p:cNvGrpSpPr/>
          <p:nvPr/>
        </p:nvGrpSpPr>
        <p:grpSpPr>
          <a:xfrm>
            <a:off x="5144771" y="2891143"/>
            <a:ext cx="3932313" cy="867060"/>
            <a:chOff x="5144771" y="2891143"/>
            <a:chExt cx="3932313" cy="867060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63FDE7A4-E592-6243-7AA2-DA9A3E942334}"/>
                </a:ext>
              </a:extLst>
            </p:cNvPr>
            <p:cNvGrpSpPr/>
            <p:nvPr/>
          </p:nvGrpSpPr>
          <p:grpSpPr>
            <a:xfrm>
              <a:off x="5144771" y="2891143"/>
              <a:ext cx="3875378" cy="867060"/>
              <a:chOff x="4748980" y="1552022"/>
              <a:chExt cx="4226640" cy="738762"/>
            </a:xfrm>
          </p:grpSpPr>
          <p:sp>
            <p:nvSpPr>
              <p:cNvPr id="50" name="Google Shape;143;p7">
                <a:extLst>
                  <a:ext uri="{FF2B5EF4-FFF2-40B4-BE49-F238E27FC236}">
                    <a16:creationId xmlns:a16="http://schemas.microsoft.com/office/drawing/2014/main" id="{1F5F6025-2249-870D-3BD2-5753941C0570}"/>
                  </a:ext>
                </a:extLst>
              </p:cNvPr>
              <p:cNvSpPr/>
              <p:nvPr/>
            </p:nvSpPr>
            <p:spPr>
              <a:xfrm>
                <a:off x="4748980" y="1552022"/>
                <a:ext cx="4226640" cy="738762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1" name="Google Shape;235;p10">
                <a:extLst>
                  <a:ext uri="{FF2B5EF4-FFF2-40B4-BE49-F238E27FC236}">
                    <a16:creationId xmlns:a16="http://schemas.microsoft.com/office/drawing/2014/main" id="{76E39577-7F3D-A45F-E0E2-3761EF75F127}"/>
                  </a:ext>
                </a:extLst>
              </p:cNvPr>
              <p:cNvSpPr/>
              <p:nvPr/>
            </p:nvSpPr>
            <p:spPr>
              <a:xfrm>
                <a:off x="4762486" y="1554616"/>
                <a:ext cx="4199776" cy="58107"/>
              </a:xfrm>
              <a:prstGeom prst="rect">
                <a:avLst/>
              </a:prstGeom>
              <a:solidFill>
                <a:srgbClr val="2E5FA3"/>
              </a:solidFill>
              <a:ln w="12700" cap="flat" cmpd="sng">
                <a:solidFill>
                  <a:srgbClr val="2E5FA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06" name="Google Shape;556;p18">
              <a:extLst>
                <a:ext uri="{FF2B5EF4-FFF2-40B4-BE49-F238E27FC236}">
                  <a16:creationId xmlns:a16="http://schemas.microsoft.com/office/drawing/2014/main" id="{117F361E-945F-5EEE-71D4-4E45299B4DA6}"/>
                </a:ext>
              </a:extLst>
            </p:cNvPr>
            <p:cNvSpPr/>
            <p:nvPr/>
          </p:nvSpPr>
          <p:spPr>
            <a:xfrm>
              <a:off x="5264036" y="2983794"/>
              <a:ext cx="3813048" cy="2011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>
                <a:buClr>
                  <a:srgbClr val="1B3A6B"/>
                </a:buClr>
                <a:buSzPts val="900"/>
              </a:pPr>
              <a:r>
                <a:rPr lang="pt-BR" sz="900" b="1" noProof="1">
                  <a:solidFill>
                    <a:srgbClr val="1B3A6B"/>
                  </a:solidFill>
                  <a:latin typeface="Calibri"/>
                  <a:cs typeface="Calibri"/>
                  <a:sym typeface="Calibri"/>
                </a:rPr>
                <a:t>Investigações prioritárias</a:t>
              </a:r>
            </a:p>
          </p:txBody>
        </p:sp>
        <p:sp>
          <p:nvSpPr>
            <p:cNvPr id="307" name="Google Shape;557;p18">
              <a:extLst>
                <a:ext uri="{FF2B5EF4-FFF2-40B4-BE49-F238E27FC236}">
                  <a16:creationId xmlns:a16="http://schemas.microsoft.com/office/drawing/2014/main" id="{98BDC1F4-5548-FA4D-8288-CBB50E874F1A}"/>
                </a:ext>
              </a:extLst>
            </p:cNvPr>
            <p:cNvSpPr/>
            <p:nvPr/>
          </p:nvSpPr>
          <p:spPr>
            <a:xfrm>
              <a:off x="5264036" y="3212394"/>
              <a:ext cx="3813048" cy="1645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>
                <a:buClr>
                  <a:srgbClr val="64748B"/>
                </a:buClr>
                <a:buSzPts val="850"/>
              </a:pPr>
              <a:r>
                <a:rPr lang="pt-BR" sz="800" noProof="1">
                  <a:solidFill>
                    <a:srgbClr val="64748B"/>
                  </a:solidFill>
                  <a:latin typeface="Calibri"/>
                  <a:cs typeface="Calibri"/>
                  <a:sym typeface="Calibri"/>
                </a:rPr>
                <a:t>◆  Fase 4: única com IDA em queda — revisar metodologia e perfil docente</a:t>
              </a:r>
            </a:p>
          </p:txBody>
        </p:sp>
        <p:sp>
          <p:nvSpPr>
            <p:cNvPr id="308" name="Google Shape;558;p18">
              <a:extLst>
                <a:ext uri="{FF2B5EF4-FFF2-40B4-BE49-F238E27FC236}">
                  <a16:creationId xmlns:a16="http://schemas.microsoft.com/office/drawing/2014/main" id="{BF0484F5-94CE-7B24-ACFB-D533AB148CE6}"/>
                </a:ext>
              </a:extLst>
            </p:cNvPr>
            <p:cNvSpPr/>
            <p:nvPr/>
          </p:nvSpPr>
          <p:spPr>
            <a:xfrm>
              <a:off x="5264036" y="3386130"/>
              <a:ext cx="3813048" cy="1645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>
                <a:buClr>
                  <a:srgbClr val="64748B"/>
                </a:buClr>
                <a:buSzPts val="850"/>
              </a:pPr>
              <a:r>
                <a:rPr lang="pt-BR" sz="800" noProof="1">
                  <a:solidFill>
                    <a:srgbClr val="64748B"/>
                  </a:solidFill>
                  <a:latin typeface="Calibri"/>
                  <a:cs typeface="Calibri"/>
                  <a:sym typeface="Calibri"/>
                </a:rPr>
                <a:t>◆  Ágata: por que está travada? Mudança pedagógica específica para essa faixa</a:t>
              </a:r>
            </a:p>
          </p:txBody>
        </p:sp>
        <p:sp>
          <p:nvSpPr>
            <p:cNvPr id="309" name="Google Shape;559;p18">
              <a:extLst>
                <a:ext uri="{FF2B5EF4-FFF2-40B4-BE49-F238E27FC236}">
                  <a16:creationId xmlns:a16="http://schemas.microsoft.com/office/drawing/2014/main" id="{2DA3B9F2-4DA8-1490-D865-A9D9915F79EE}"/>
                </a:ext>
              </a:extLst>
            </p:cNvPr>
            <p:cNvSpPr/>
            <p:nvPr/>
          </p:nvSpPr>
          <p:spPr>
            <a:xfrm>
              <a:off x="5264036" y="3559866"/>
              <a:ext cx="3813048" cy="1645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>
                <a:buClr>
                  <a:srgbClr val="64748B"/>
                </a:buClr>
                <a:buSzPts val="850"/>
              </a:pPr>
              <a:r>
                <a:rPr lang="pt-BR" sz="800" noProof="1">
                  <a:solidFill>
                    <a:srgbClr val="64748B"/>
                  </a:solidFill>
                  <a:latin typeface="Calibri"/>
                  <a:cs typeface="Calibri"/>
                  <a:sym typeface="Calibri"/>
                </a:rPr>
                <a:t>◆  IAA Quartzo em 2023: o que derrubou a autoestima? Documentar e prevenir </a:t>
              </a:r>
            </a:p>
          </p:txBody>
        </p:sp>
      </p:grpSp>
      <p:grpSp>
        <p:nvGrpSpPr>
          <p:cNvPr id="317" name="Group 316">
            <a:extLst>
              <a:ext uri="{FF2B5EF4-FFF2-40B4-BE49-F238E27FC236}">
                <a16:creationId xmlns:a16="http://schemas.microsoft.com/office/drawing/2014/main" id="{5FB03C52-E155-9EDE-D1B0-BF506733E010}"/>
              </a:ext>
            </a:extLst>
          </p:cNvPr>
          <p:cNvGrpSpPr/>
          <p:nvPr/>
        </p:nvGrpSpPr>
        <p:grpSpPr>
          <a:xfrm>
            <a:off x="5146244" y="3868831"/>
            <a:ext cx="3930840" cy="867060"/>
            <a:chOff x="5146244" y="3868831"/>
            <a:chExt cx="3930840" cy="867060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1405197D-AA2A-ABB8-AF91-FBDA0B3EE9BA}"/>
                </a:ext>
              </a:extLst>
            </p:cNvPr>
            <p:cNvGrpSpPr/>
            <p:nvPr/>
          </p:nvGrpSpPr>
          <p:grpSpPr>
            <a:xfrm>
              <a:off x="5146244" y="3868831"/>
              <a:ext cx="3875378" cy="867060"/>
              <a:chOff x="4748980" y="1552022"/>
              <a:chExt cx="4226640" cy="738762"/>
            </a:xfrm>
          </p:grpSpPr>
          <p:sp>
            <p:nvSpPr>
              <p:cNvPr id="56" name="Google Shape;143;p7">
                <a:extLst>
                  <a:ext uri="{FF2B5EF4-FFF2-40B4-BE49-F238E27FC236}">
                    <a16:creationId xmlns:a16="http://schemas.microsoft.com/office/drawing/2014/main" id="{9693951F-B69A-D807-8BE2-D16FC3F38528}"/>
                  </a:ext>
                </a:extLst>
              </p:cNvPr>
              <p:cNvSpPr/>
              <p:nvPr/>
            </p:nvSpPr>
            <p:spPr>
              <a:xfrm>
                <a:off x="4748980" y="1552022"/>
                <a:ext cx="4226640" cy="738762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3" name="Google Shape;235;p10">
                <a:extLst>
                  <a:ext uri="{FF2B5EF4-FFF2-40B4-BE49-F238E27FC236}">
                    <a16:creationId xmlns:a16="http://schemas.microsoft.com/office/drawing/2014/main" id="{85A1E5BD-7039-6D95-59A7-EE6C3DFAF220}"/>
                  </a:ext>
                </a:extLst>
              </p:cNvPr>
              <p:cNvSpPr/>
              <p:nvPr/>
            </p:nvSpPr>
            <p:spPr>
              <a:xfrm>
                <a:off x="4762486" y="1554616"/>
                <a:ext cx="4199776" cy="58107"/>
              </a:xfrm>
              <a:prstGeom prst="rect">
                <a:avLst/>
              </a:prstGeom>
              <a:solidFill>
                <a:srgbClr val="2E5FA3"/>
              </a:solidFill>
              <a:ln w="12700" cap="flat" cmpd="sng">
                <a:solidFill>
                  <a:srgbClr val="2E5FA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10" name="Google Shape;563;p18">
              <a:extLst>
                <a:ext uri="{FF2B5EF4-FFF2-40B4-BE49-F238E27FC236}">
                  <a16:creationId xmlns:a16="http://schemas.microsoft.com/office/drawing/2014/main" id="{BE153036-E4BC-853D-06E0-0191C6BBA00E}"/>
                </a:ext>
              </a:extLst>
            </p:cNvPr>
            <p:cNvSpPr/>
            <p:nvPr/>
          </p:nvSpPr>
          <p:spPr>
            <a:xfrm>
              <a:off x="5264036" y="3973858"/>
              <a:ext cx="3813048" cy="2011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>
                <a:buClr>
                  <a:srgbClr val="1B3A6B"/>
                </a:buClr>
                <a:buSzPts val="900"/>
              </a:pPr>
              <a:r>
                <a:rPr lang="pt-BR" sz="900" b="1" noProof="1">
                  <a:solidFill>
                    <a:srgbClr val="1B3A6B"/>
                  </a:solidFill>
                  <a:latin typeface="Calibri"/>
                  <a:cs typeface="Calibri"/>
                  <a:sym typeface="Calibri"/>
                </a:rPr>
                <a:t>Reformas estruturais sugeridas</a:t>
              </a:r>
            </a:p>
          </p:txBody>
        </p:sp>
        <p:sp>
          <p:nvSpPr>
            <p:cNvPr id="311" name="Google Shape;564;p18">
              <a:extLst>
                <a:ext uri="{FF2B5EF4-FFF2-40B4-BE49-F238E27FC236}">
                  <a16:creationId xmlns:a16="http://schemas.microsoft.com/office/drawing/2014/main" id="{BDCE6010-4C36-29B6-937A-97C8C4DCA411}"/>
                </a:ext>
              </a:extLst>
            </p:cNvPr>
            <p:cNvSpPr/>
            <p:nvPr/>
          </p:nvSpPr>
          <p:spPr>
            <a:xfrm>
              <a:off x="5264036" y="4202458"/>
              <a:ext cx="3813048" cy="1645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>
                <a:buClr>
                  <a:srgbClr val="64748B"/>
                </a:buClr>
                <a:buSzPts val="850"/>
              </a:pPr>
              <a:r>
                <a:rPr lang="pt-BR" sz="800" noProof="1">
                  <a:solidFill>
                    <a:srgbClr val="64748B"/>
                  </a:solidFill>
                  <a:latin typeface="Calibri"/>
                  <a:cs typeface="Calibri"/>
                  <a:sym typeface="Calibri"/>
                </a:rPr>
                <a:t>◆  Revisar fórmula do PV: adicionar métrica de progressão de quadrante (IEG × IDA)</a:t>
              </a:r>
            </a:p>
          </p:txBody>
        </p:sp>
        <p:sp>
          <p:nvSpPr>
            <p:cNvPr id="312" name="Google Shape;565;p18">
              <a:extLst>
                <a:ext uri="{FF2B5EF4-FFF2-40B4-BE49-F238E27FC236}">
                  <a16:creationId xmlns:a16="http://schemas.microsoft.com/office/drawing/2014/main" id="{6C74EA9A-32A4-7FC6-F54C-DC29A6DD213A}"/>
                </a:ext>
              </a:extLst>
            </p:cNvPr>
            <p:cNvSpPr/>
            <p:nvPr/>
          </p:nvSpPr>
          <p:spPr>
            <a:xfrm>
              <a:off x="5264036" y="4376194"/>
              <a:ext cx="3813048" cy="1645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>
                <a:buClr>
                  <a:srgbClr val="64748B"/>
                </a:buClr>
                <a:buSzPts val="850"/>
              </a:pPr>
              <a:r>
                <a:rPr lang="pt-BR" sz="800" noProof="1">
                  <a:solidFill>
                    <a:srgbClr val="64748B"/>
                  </a:solidFill>
                  <a:latin typeface="Calibri"/>
                  <a:cs typeface="Calibri"/>
                  <a:sym typeface="Calibri"/>
                </a:rPr>
                <a:t>◆  Ampliar cobertura do IPP: 34% dos alunos sem avaliação psicopedagógica registrada</a:t>
              </a:r>
            </a:p>
          </p:txBody>
        </p:sp>
        <p:sp>
          <p:nvSpPr>
            <p:cNvPr id="313" name="Google Shape;566;p18">
              <a:extLst>
                <a:ext uri="{FF2B5EF4-FFF2-40B4-BE49-F238E27FC236}">
                  <a16:creationId xmlns:a16="http://schemas.microsoft.com/office/drawing/2014/main" id="{0E7DFCFF-A4FE-6DDC-B76D-02B25C67EE21}"/>
                </a:ext>
              </a:extLst>
            </p:cNvPr>
            <p:cNvSpPr/>
            <p:nvPr/>
          </p:nvSpPr>
          <p:spPr>
            <a:xfrm>
              <a:off x="5264036" y="4549930"/>
              <a:ext cx="3813048" cy="1645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>
                <a:buClr>
                  <a:srgbClr val="64748B"/>
                </a:buClr>
                <a:buSzPts val="850"/>
              </a:pPr>
              <a:r>
                <a:rPr lang="pt-BR" sz="800" noProof="1">
                  <a:solidFill>
                    <a:srgbClr val="64748B"/>
                  </a:solidFill>
                  <a:latin typeface="Calibri"/>
                  <a:cs typeface="Calibri"/>
                  <a:sym typeface="Calibri"/>
                </a:rPr>
                <a:t>◆  Criar plano de ação pedagógica obrigatório pós-diagnóstico IPP</a:t>
              </a:r>
            </a:p>
          </p:txBody>
        </p:sp>
      </p:grpSp>
      <p:grpSp>
        <p:nvGrpSpPr>
          <p:cNvPr id="319" name="Group 318">
            <a:extLst>
              <a:ext uri="{FF2B5EF4-FFF2-40B4-BE49-F238E27FC236}">
                <a16:creationId xmlns:a16="http://schemas.microsoft.com/office/drawing/2014/main" id="{DF93D962-39DE-75C2-61A2-1F49F3892035}"/>
              </a:ext>
            </a:extLst>
          </p:cNvPr>
          <p:cNvGrpSpPr/>
          <p:nvPr/>
        </p:nvGrpSpPr>
        <p:grpSpPr>
          <a:xfrm>
            <a:off x="120102" y="576072"/>
            <a:ext cx="4746866" cy="276999"/>
            <a:chOff x="120102" y="576072"/>
            <a:chExt cx="4746866" cy="276999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6955732A-7801-E630-1EF8-02A8A08E66FD}"/>
                </a:ext>
              </a:extLst>
            </p:cNvPr>
            <p:cNvGrpSpPr/>
            <p:nvPr/>
          </p:nvGrpSpPr>
          <p:grpSpPr>
            <a:xfrm>
              <a:off x="120102" y="576072"/>
              <a:ext cx="4746866" cy="276999"/>
              <a:chOff x="4572000" y="1033342"/>
              <a:chExt cx="3547330" cy="276999"/>
            </a:xfrm>
          </p:grpSpPr>
          <p:sp>
            <p:nvSpPr>
              <p:cNvPr id="58" name="Google Shape;255;p12">
                <a:extLst>
                  <a:ext uri="{FF2B5EF4-FFF2-40B4-BE49-F238E27FC236}">
                    <a16:creationId xmlns:a16="http://schemas.microsoft.com/office/drawing/2014/main" id="{A0FF0ACC-DE4D-7F8F-C0E8-5F51A37DB38A}"/>
                  </a:ext>
                </a:extLst>
              </p:cNvPr>
              <p:cNvSpPr/>
              <p:nvPr/>
            </p:nvSpPr>
            <p:spPr>
              <a:xfrm>
                <a:off x="4572000" y="1040169"/>
                <a:ext cx="3547330" cy="270172"/>
              </a:xfrm>
              <a:prstGeom prst="rect">
                <a:avLst/>
              </a:prstGeom>
              <a:solidFill>
                <a:srgbClr val="1B3A6B"/>
              </a:solidFill>
              <a:ln w="12700" cap="flat" cmpd="sng">
                <a:solidFill>
                  <a:srgbClr val="1B3A6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4C8B7701-0F61-5970-AB76-AC282382E98C}"/>
                  </a:ext>
                </a:extLst>
              </p:cNvPr>
              <p:cNvSpPr txBox="1"/>
              <p:nvPr/>
            </p:nvSpPr>
            <p:spPr>
              <a:xfrm>
                <a:off x="4891402" y="1033342"/>
                <a:ext cx="2376216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pt-BR" sz="1200" b="1" i="0" u="none" strike="noStrike" noProof="1">
                    <a:solidFill>
                      <a:srgbClr val="FFFFFF"/>
                    </a:solidFill>
                    <a:effectLst/>
                    <a:latin typeface="Calibri" panose="020F0502020204030204" pitchFamily="34" charset="0"/>
                  </a:rPr>
                  <a:t>O que dados provam:</a:t>
                </a:r>
                <a:endParaRPr lang="pt-BR" sz="1200" b="0" noProof="1">
                  <a:effectLst/>
                </a:endParaRPr>
              </a:p>
            </p:txBody>
          </p:sp>
        </p:grpSp>
        <p:pic>
          <p:nvPicPr>
            <p:cNvPr id="318" name="Picture 317">
              <a:extLst>
                <a:ext uri="{FF2B5EF4-FFF2-40B4-BE49-F238E27FC236}">
                  <a16:creationId xmlns:a16="http://schemas.microsoft.com/office/drawing/2014/main" id="{FD04FE25-0939-8BCF-9D7F-E616DF4F3FC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266796" y="598035"/>
              <a:ext cx="226057" cy="226057"/>
            </a:xfrm>
            <a:prstGeom prst="rect">
              <a:avLst/>
            </a:prstGeom>
          </p:spPr>
        </p:pic>
      </p:grpSp>
      <p:grpSp>
        <p:nvGrpSpPr>
          <p:cNvPr id="321" name="Group 320">
            <a:extLst>
              <a:ext uri="{FF2B5EF4-FFF2-40B4-BE49-F238E27FC236}">
                <a16:creationId xmlns:a16="http://schemas.microsoft.com/office/drawing/2014/main" id="{06D8C123-66F9-37EA-8FCF-DFEF1D28E7AE}"/>
              </a:ext>
            </a:extLst>
          </p:cNvPr>
          <p:cNvGrpSpPr/>
          <p:nvPr/>
        </p:nvGrpSpPr>
        <p:grpSpPr>
          <a:xfrm>
            <a:off x="5148520" y="576070"/>
            <a:ext cx="3875378" cy="276999"/>
            <a:chOff x="5148520" y="576070"/>
            <a:chExt cx="3875378" cy="276999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BC8F6451-B509-81F3-430A-F191BBE26485}"/>
                </a:ext>
              </a:extLst>
            </p:cNvPr>
            <p:cNvGrpSpPr/>
            <p:nvPr/>
          </p:nvGrpSpPr>
          <p:grpSpPr>
            <a:xfrm>
              <a:off x="5148520" y="576070"/>
              <a:ext cx="3875378" cy="276999"/>
              <a:chOff x="4572000" y="1033342"/>
              <a:chExt cx="3547330" cy="283999"/>
            </a:xfrm>
          </p:grpSpPr>
          <p:sp>
            <p:nvSpPr>
              <p:cNvPr id="27" name="Google Shape;255;p12">
                <a:extLst>
                  <a:ext uri="{FF2B5EF4-FFF2-40B4-BE49-F238E27FC236}">
                    <a16:creationId xmlns:a16="http://schemas.microsoft.com/office/drawing/2014/main" id="{D55C7C6A-BC3A-3345-2F64-8BBCFE17EBB6}"/>
                  </a:ext>
                </a:extLst>
              </p:cNvPr>
              <p:cNvSpPr/>
              <p:nvPr/>
            </p:nvSpPr>
            <p:spPr>
              <a:xfrm>
                <a:off x="4572000" y="1040169"/>
                <a:ext cx="3547330" cy="270172"/>
              </a:xfrm>
              <a:prstGeom prst="rect">
                <a:avLst/>
              </a:prstGeom>
              <a:solidFill>
                <a:srgbClr val="1B3A6B"/>
              </a:solidFill>
              <a:ln w="12700" cap="flat" cmpd="sng">
                <a:solidFill>
                  <a:srgbClr val="1B3A6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D01A22F-4FB5-31C8-0347-089704FD0377}"/>
                  </a:ext>
                </a:extLst>
              </p:cNvPr>
              <p:cNvSpPr txBox="1"/>
              <p:nvPr/>
            </p:nvSpPr>
            <p:spPr>
              <a:xfrm>
                <a:off x="4891402" y="1033342"/>
                <a:ext cx="2376216" cy="283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pt-BR" sz="1200" b="1" i="0" u="none" strike="noStrike" noProof="1">
                    <a:solidFill>
                      <a:srgbClr val="FFFFFF"/>
                    </a:solidFill>
                    <a:effectLst/>
                    <a:latin typeface="Calibri" panose="020F0502020204030204" pitchFamily="34" charset="0"/>
                  </a:rPr>
                  <a:t>Próximos passos:</a:t>
                </a:r>
                <a:endParaRPr lang="pt-BR" sz="1200" b="0" noProof="1">
                  <a:effectLst/>
                </a:endParaRPr>
              </a:p>
            </p:txBody>
          </p:sp>
        </p:grpSp>
        <p:pic>
          <p:nvPicPr>
            <p:cNvPr id="320" name="Picture 319">
              <a:extLst>
                <a:ext uri="{FF2B5EF4-FFF2-40B4-BE49-F238E27FC236}">
                  <a16:creationId xmlns:a16="http://schemas.microsoft.com/office/drawing/2014/main" id="{8D4DBEAD-E4D5-EDDD-2EB0-1DD55E457F6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5259275" y="596359"/>
              <a:ext cx="236123" cy="23612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1593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344"/>
        </a:solidFill>
        <a:effectLst/>
      </p:bgPr>
    </p:bg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6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D3337"/>
          </a:solidFill>
          <a:ln w="12700" cap="flat" cmpd="sng">
            <a:solidFill>
              <a:srgbClr val="ED333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16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chemeClr val="accent1">
              <a:lumMod val="60000"/>
              <a:lumOff val="40000"/>
              <a:alpha val="96970"/>
            </a:schemeClr>
          </a:solidFill>
          <a:ln w="12700" cap="flat" cmpd="sng">
            <a:solidFill>
              <a:srgbClr val="1B3A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400" name="Google Shape;400;p16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06C1A"/>
              </a:buClr>
              <a:buSzPts val="1100"/>
              <a:buFont typeface="Calibri"/>
              <a:buNone/>
            </a:pPr>
            <a:r>
              <a:rPr lang="en-US" sz="1100" b="1" i="0" u="none" strike="noStrike" cap="none" dirty="0">
                <a:solidFill>
                  <a:srgbClr val="ED3337"/>
                </a:solidFill>
                <a:latin typeface="Calibri"/>
                <a:ea typeface="Calibri"/>
                <a:cs typeface="Calibri"/>
                <a:sym typeface="Calibri"/>
              </a:rPr>
              <a:t>PASSOS MÁGICOS</a:t>
            </a:r>
            <a:endParaRPr sz="1100" b="0" i="0" u="none" strike="noStrike" cap="none" dirty="0">
              <a:solidFill>
                <a:srgbClr val="ED33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6"/>
          <p:cNvSpPr/>
          <p:nvPr/>
        </p:nvSpPr>
        <p:spPr>
          <a:xfrm>
            <a:off x="457200" y="1280160"/>
            <a:ext cx="777240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lang="pt-BR" sz="3600" b="1" i="0" u="none" strike="noStrike" cap="none" noProof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Dados a serviço</a:t>
            </a:r>
            <a:endParaRPr lang="pt-BR" sz="3600" b="0" i="0" u="none" strike="noStrike" cap="none" noProof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lang="pt-BR" sz="3600" b="1" i="0" u="none" strike="noStrike" cap="none" noProof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 transformação.</a:t>
            </a:r>
            <a:endParaRPr lang="pt-BR" sz="3600" b="0" i="0" u="none" strike="noStrike" cap="none" noProof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6"/>
          <p:cNvSpPr/>
          <p:nvPr/>
        </p:nvSpPr>
        <p:spPr>
          <a:xfrm>
            <a:off x="457200" y="4317055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pt-BR" sz="2400" b="0" i="1" u="none" strike="noStrike" cap="none" noProof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Obrigada</a:t>
            </a:r>
            <a:endParaRPr lang="pt-BR" sz="2400" b="0" i="0" u="none" strike="noStrike" cap="none" noProof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E303D75-0A53-B8A4-E237-F53EB9B1E7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3410" y="2076775"/>
            <a:ext cx="2390862" cy="96709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8775</TotalTime>
  <Words>1981</Words>
  <Application>Microsoft Macintosh PowerPoint</Application>
  <PresentationFormat>On-screen Show (16:9)</PresentationFormat>
  <Paragraphs>231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Maisa Fernandes</cp:lastModifiedBy>
  <cp:revision>25</cp:revision>
  <dcterms:modified xsi:type="dcterms:W3CDTF">2026-05-15T22:29:34Z</dcterms:modified>
</cp:coreProperties>
</file>